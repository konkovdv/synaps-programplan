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FFFFFF"/>
                </a:solidFill>
                <a:latin typeface="+mn-lt"/>
              </a:rPr>
              <a:t>На сколько рабочих дней раньше станет P80 без этого риска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Выигрыш P80, рабочих дней</c:v>
                </c:pt>
              </c:strCache>
            </c:strRef>
          </c:tx>
          <c:spPr>
            <a:solidFill>
              <a:srgbClr val="F08A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Повторные испытания после отказа на стенде</c:v>
                </c:pt>
                <c:pt idx="1">
                  <c:v>Задержка поставки комплектующих</c:v>
                </c:pt>
                <c:pt idx="2">
                  <c:v>Замечания сертификационных испытаний</c:v>
                </c:pt>
                <c:pt idx="3">
                  <c:v>Доработка КД по замечаниям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9-4636-B1D8-8CEDE123B7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DCE4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FFFFF"/>
                </a:solidFill>
                <a:latin typeface="+mn-lt"/>
              </a:rPr>
              <a:t>1 560 задач PSPLIB: все планы приняты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Планов принято, %</c:v>
                </c:pt>
              </c:strCache>
            </c:strRef>
          </c:tx>
          <c:spPr>
            <a:solidFill>
              <a:srgbClr val="5E7D9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PSPLIB j30</c:v>
                </c:pt>
                <c:pt idx="1">
                  <c:v>PSPLIB j60</c:v>
                </c:pt>
                <c:pt idx="2">
                  <c:v>PSPLIB j120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B2-41A7-8FB4-67B720529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Оптимальность доказана, %</c:v>
                </c:pt>
              </c:strCache>
            </c:strRef>
          </c:tx>
          <c:spPr>
            <a:solidFill>
              <a:srgbClr val="F08A3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PSPLIB j30</c:v>
                </c:pt>
                <c:pt idx="1">
                  <c:v>PSPLIB j60</c:v>
                </c:pt>
                <c:pt idx="2">
                  <c:v>PSPLIB j120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</c:v>
                </c:pt>
                <c:pt idx="1">
                  <c:v>84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B2-41A7-8FB4-67B720529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DCE4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DCE4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15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Мы пришли с системой, которая на каждый срок программы ОКР отвечает прямо: сходится он или нет, и почему. Сейчас покажем её в работе на учебной программе. А в конце предложим пилот на двух-трёх ваших обезличенных планах, который уложится до конца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у вас есть всего минута, вот она. Боль знакома каждому руководителю программы, решение покажем вживую, доказательства возьмём с открытых эталонов. А в конце предложим пилот в срок вашего запроса и покажем, как посчитать его эффект в рублях.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ОДК держит редкий темп: ПД-8 сертифицирован вдвое быстрее мирового срока, рядом идут ещё несколько программ, а стенды и люди у них общие. Источники: «Фонтанка» от 5 июня 2026 года, Profile.ru от 20 марта 2026 года, «Новый компаньон» от 13 марта 2026 года про стенд для ПД-35. Вопрос в зал: сколько человеко-дней у вас уходит на один цикл сводки? Запишем ответ, с него начнётся расчёт эффекта.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зеркало предыдущего слайда, строка в строку. Посмотрите на третью строку: если срок невыполним, система это доказывает и называет требование, которое не сходится. С таким ответом уже можно идти к руководству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на этом слайде: план, который не прошёл проверку или был подменён, не попадёт ни в отчёт, ни в выгрузку, и ручная правка мышью проходит ту же проверку. Ещё до расчёта планировщик получит разбор качества своего графика по образцу мировой методики оценки расписаний. Вердикт всегда точный: «оптимален» только с доказательством, «допустим», когда план принят, «невыполним» только при доказательстве.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Переключаюсь в отчёт: таблица вариантов, Гант со свёрткой ОКР-1 и фильтром «Испытательная станция», затем конфликты и причины переносов. Ещё до всякой оптимизации система нашла в исходных планах 5 споров за общий ресурс и 13 перегрузок. Представьте такой реестр по вашим планам в первую неделю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фраза, которую можно сразу нести руководителю: работа сдвинута на 186 рабочих дней, потому что стенд TESTER-2 16 мая 2028 года занят испытаниями ОКР-2. Справа обратный случай: дату 14 декабря 2027 года взять нельзя, и система это доказывает. А как сейчас вы объясняете руководству, почему срок поехал?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P80 читается так: в восьми случаях из десяти программа закончится не позже 9 марта 2029 года. Это разброс уже принятого плана, и по нему видно, куда вкладывать резерв. Повторные испытания после отказа на стенде одни стоят 40 рабочих дней. Какой риск в вашем реестре стоит первым?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Стенд в модели уже живёт своей жизнью: у него есть состояние и переналадка, а работа может пойти на стенд А или Б, и точный решатель выберет режим. Каждое такое правило заново проверяет независимый модуль. К пилоту добавим событие «испытание не прошло» с повтором, тот самый главный риск с прошлого слайда. Какие стенды у вас сегодня загружены сильнее всего? Если спросят детали: режимы задаются в JSON программы, не у вехи и не у начатой работы; быстрый план на них отвечает «модель не поддерживается» и дат не публикует; режимы и переналадка одной работы вместе не задаются; пример со стендами А и Б —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j30 мировое сообщество решило полностью, поэтому мы показываем и тяжёлые j60 и j120. Самое ценное здесь: ни один принятый план не нарушил ограничений, и ни один доказанный оптимум не разошёлся с известным. Новые правила для стендов покрыты автотестами наравне со всем остальным, и ту же дисциплину мы приносим на ваши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Spider Project сильный продукт: он умеет выравнивание ресурсов и Монте-Карло, и мы с ним не спорим. Наша сила в трёх строках: доказанная невыполнимость, причина каждого переноса и независимая проверка плана. MS Project и P6 выравнивают эвристикой, и на пилоте мы сравним результат на одних и тех же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Одного алгоритма, который сразу решает многопроектную задачу с испытаниями, переналадкой и неопределённостью, в мире нет. Промышленный подход собирают из слоёв: точный решатель, независимая проверка, объяснения и утверждение человеком. Шесть слоёв из семи у нас уже работают, включая режимы и переналадку стендов, а события испытаний добавим к пилоту.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строка здесь формула, а параметры назовёте вы: ставку, цену дня сдвига вехи, стоимость часа стенда. Базовую линию снимаем до старта и вписываем в договор. А ретроспективный прогон на вашем прошлом квартале покажет эффект раньше, чем вы поменяете хоть один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польза появится уже в первую неделю: реестр конфликтов и разбор качества ваших исходных графиков, ещё до оптимизации. Стоимость назовём, как только зафиксируем область, оплата идёт по этапам. И всё укладывается в срок вашего запроса, до конца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Обещаниям никто не верит, поэтому у каждого критерия есть метод измерения и пункт в программе и методике испытаний. Две строки мы измерим именно на ваших данных, ради этого пилот и затевается. Назовите, какой критерий для вас главный, и он станет первым пунктом протокола.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службы безопасности главное: данные не уходят наружу, обезличивание выполняете вы сами, языковая модель по умолчанию выключена. Зрелость по ГОСТ Р 58048 оценивает комиссия по итогам пилота, и протокол испытаний даёт ей для этого материал. Дальше путь простой: от одной программы к остальным.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 двое, и мы отвечаем за каждую цифру на этих слайдах. Код, тесты, журнал решений и инструкция установки лежат в открытом репозитории, их можно проверить и без нас. На пилоте вы работаете напрямую с авторами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просим три вещи: планы, справочник и человека, который знает процесс. Скрипт обезличивания передадим вместе с методикой испытаний, а описание сводки станет базовой линией для расчёта эффекта. Когда удобно назначить рабочую встречу с вашим планировщиком?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Резервный слайд, открываем по вопросу из зала. Про вердикт «допустимый» говорим спокойно: система не приукрашивает вердикт, и именно поэтому её словам можно верить. На большинство вопросов лучший ответ дадут ваши данные на пилоте. Для технических вопросов: MPP читается через MPXJ и Java 17, при чтении в журнале печатается «Windows fatal exception: access violation», тесты от этого не падают. Программа на 20 тысяч работ не запускалась.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47472"/>
            <a:ext cx="1417320" cy="2862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SynAPS-ProgramPlan · запрос № 1 АО «ОДК»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onkovDV/SynAPS-ProgramPlan" TargetMode="Externa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103120" cy="4251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9339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SynAPS-ProgramPlan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Сводный план программы ОКР, в котором видно, сходится ли срок и почему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08A3C">
              <a:alpha val="20000"/>
            </a:srgbClr>
          </a:solidFill>
          <a:ln w="9525">
            <a:solidFill>
              <a:srgbClr val="F08A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Двойная проверка плана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487168" y="3977640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F08A3C">
              <a:alpha val="20000"/>
            </a:srgbClr>
          </a:solidFill>
          <a:ln w="9525">
            <a:solidFill>
              <a:srgbClr val="F08A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87168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каждого переноса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54296" y="39776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08A3C">
              <a:alpha val="20000"/>
            </a:srgbClr>
          </a:solidFill>
          <a:ln w="9525">
            <a:solidFill>
              <a:srgbClr val="F08A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4296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 закрытом контуре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805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на запрос № 1: сводный план программы ОКР с учётом общих стендов и специалистов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23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Коньков Дмитрий Викторович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и архитектор SynAPS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Соберём вашу программу целиком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встреча на одном слайде: что болит, что делаем, чем докажем и что предлагаем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6118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план ОКР сходится сам по себе, а вместе они спорят за одни стенды и людей. Сводка отнимает дни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46704" y="1691640"/>
            <a:ext cx="2651760" cy="36118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5304" y="1920240"/>
            <a:ext cx="731520" cy="73152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5304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32004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 сводит планы, находит конфликты до расчёта, строит варианты и объясняет каждый перенос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44768" y="1691640"/>
            <a:ext cx="2651760" cy="36118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3368" y="1920240"/>
            <a:ext cx="731520" cy="73152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3368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373368" y="32004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PSPLIB j30, j60 и j120: 1 560 задач, все планы приняты. 150 подмен плана в тестах — ни одного ложного принятия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942832" y="1691640"/>
            <a:ext cx="2651760" cy="36118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71432" y="1920240"/>
            <a:ext cx="731520" cy="73152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2103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71432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171432" y="32004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Платный пилот на 2–3 обезличенных планах. Критерии приёмки фиксируем заранее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109960" cy="685800"/>
          </a:xfrm>
          <a:prstGeom prst="snip2DiagRect">
            <a:avLst/>
          </a:prstGeom>
          <a:solidFill>
            <a:srgbClr val="2A1C10">
              <a:alpha val="90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ОДК нужно: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обезличенных плана ОКР, справочник стендов и специалистов, эксперт-планировщик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план ОКР верен, а вместе не сходятся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мест, где ручная сводка программы теряет время, людей и контрольные сроки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876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093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вручную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965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из MS Project, Primavera и Excel сводят руками при каждой актуализации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70205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5237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Скрытая борьба за стенд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ОКР претендуют на один стенд, и это всплывает, когда менять план поздно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56432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6164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4381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Нечем доказать невыполнимость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794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Руководству не показать, какие требования не сходятся и что ослабить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370832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53085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525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ответа на «что если»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709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 одной правки для всей программы считают днями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285232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544525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2669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нигде не записаны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371600" y="5623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разборе отклонения не видно, кто, что и почему решил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498080" y="1627632"/>
            <a:ext cx="416052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772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 ОДК, ОТКРЫТЫЕ ИСТОЧНИКИ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0" y="2212848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ПД-8 вдвое быстрее. </a:t>
            </a:r>
            <a:r>
              <a:rPr lang="en-US" sz="13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типа в июне 2026. В мире на такую задачу уходит 10–12 лет</a:t>
            </a:r>
            <a:endParaRPr lang="en-US" sz="13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программ сразу. </a:t>
            </a:r>
            <a:r>
              <a:rPr lang="en-US" sz="13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ПД-14, ТВ7‑117СТ‑01, ПД-35, ПД-8. Двигатель — критический элемент программы самолёта</a:t>
            </a:r>
            <a:endParaRPr lang="en-US" sz="13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дороже всего. </a:t>
            </a:r>
            <a:r>
              <a:rPr lang="en-US" sz="13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для ПД-35 за 3,7 млрд руб. станет единственным в России. Каждый день на счету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7772400" y="49834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 сразу на нескольких программах удержит только общий план стендов и людей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Каждую боль сводки закрывает свой механизм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пять мест: слева как сейчас, справа как с SynAPS-ProgramPlan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E6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SYNAPS-PROGRAMPLAN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120640" cy="7132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14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9202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разных форматов сводят вручную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39696"/>
            <a:ext cx="292608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920" y="1920240"/>
            <a:ext cx="5440680" cy="713232"/>
          </a:xfrm>
          <a:prstGeom prst="snip2DiagRect">
            <a:avLst/>
          </a:prstGeom>
          <a:solidFill>
            <a:srgbClr val="1D1A16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2140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0" y="19202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 MS Project, Primavera P6 и Excel, общие ресурсы сводятся сами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2770632"/>
            <a:ext cx="5120640" cy="7132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27706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за стенд виден, когда поздно менять план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990088"/>
            <a:ext cx="292608" cy="2743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217920" y="2770632"/>
            <a:ext cx="5440680" cy="713232"/>
          </a:xfrm>
          <a:prstGeom prst="snip2DiagRect">
            <a:avLst/>
          </a:prstGeom>
          <a:solidFill>
            <a:srgbClr val="1D1A16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71800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58000" y="27706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Перегрузки и споры ОКР за ресурс видны ещё до расчёта плана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48640" y="3621024"/>
            <a:ext cx="5120640" cy="7132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22192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88720" y="362102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Невыполнимость срока нечем доказать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840480"/>
            <a:ext cx="292608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217920" y="3621024"/>
            <a:ext cx="5440680" cy="713232"/>
          </a:xfrm>
          <a:prstGeom prst="snip2DiagRect">
            <a:avLst/>
          </a:prstGeom>
          <a:solidFill>
            <a:srgbClr val="1D1A16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22192"/>
            <a:ext cx="310896" cy="310896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858000" y="362102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доказывает невыполнимость и называет требование, которое не сходится</a:t>
            </a:r>
            <a:endParaRPr lang="en-US" sz="1400" dirty="0"/>
          </a:p>
        </p:txBody>
      </p:sp>
      <p:sp>
        <p:nvSpPr>
          <p:cNvPr id="27" name="Shape 16"/>
          <p:cNvSpPr/>
          <p:nvPr/>
        </p:nvSpPr>
        <p:spPr>
          <a:xfrm>
            <a:off x="548640" y="4471416"/>
            <a:ext cx="5120640" cy="7132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72584"/>
            <a:ext cx="310896" cy="310896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188720" y="4471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 правки считают днями</a:t>
            </a:r>
            <a:endParaRPr lang="en-US" sz="14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690872"/>
            <a:ext cx="292608" cy="274320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6217920" y="4471416"/>
            <a:ext cx="5440680" cy="713232"/>
          </a:xfrm>
          <a:prstGeom prst="snip2DiagRect">
            <a:avLst/>
          </a:prstGeom>
          <a:solidFill>
            <a:srgbClr val="1D1A16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672584"/>
            <a:ext cx="310896" cy="310896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858000" y="44714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правка проверяется сразу; 7 вариантов со сроками и загрузкой</a:t>
            </a:r>
            <a:endParaRPr lang="en-US" sz="1400" dirty="0"/>
          </a:p>
        </p:txBody>
      </p:sp>
      <p:sp>
        <p:nvSpPr>
          <p:cNvPr id="34" name="Shape 20"/>
          <p:cNvSpPr/>
          <p:nvPr/>
        </p:nvSpPr>
        <p:spPr>
          <a:xfrm>
            <a:off x="548640" y="5321808"/>
            <a:ext cx="5120640" cy="7132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522976"/>
            <a:ext cx="310896" cy="310896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188720" y="532180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почему решил, нигде не записано</a:t>
            </a:r>
            <a:endParaRPr lang="en-US" sz="14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5541264"/>
            <a:ext cx="292608" cy="274320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6217920" y="5321808"/>
            <a:ext cx="5440680" cy="713232"/>
          </a:xfrm>
          <a:prstGeom prst="snip2DiagRect">
            <a:avLst/>
          </a:prstGeom>
          <a:solidFill>
            <a:srgbClr val="1D1A16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522976"/>
            <a:ext cx="310896" cy="310896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858000" y="532180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у каждого переноса и журнал решений, где видна любая правка записи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публикуется, только пройдя три проверки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разнородных выгрузок до решения руководителя: шесть шагов в закрытом контуре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8105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Project, Primavera P6, Excel. Отчёт о потерях импорта и строгий режим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32304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96896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18105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96896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модель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596896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Программа, ОКР, этап, работа. Связи 4 типов, вехи, сроки, календарь РФ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15968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8056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8105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8056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графика, перегрузки, споры за ресурс, сроки под угрозой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9632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64224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8105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64224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решатель CP-SAT и быстрый план: «Сроки», «Баланс», «Что если» и другие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83296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47888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016" y="18105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47888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247888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Независимый модуль без кода решателя проверяет план заново и выявляет подмену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9966960" y="1645920"/>
            <a:ext cx="1700784" cy="26974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0131552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0" y="18105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131552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0131552" y="2633472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переносов, риск, журнал. Выгрузка в MS Project с базовым планом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4572000"/>
            <a:ext cx="6583680" cy="160020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7724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УСЛОВИЯ ПУБЛИКАЦИИ ПЛАНА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77240" y="5010912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 нашёл допустимое расписание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ядра SynAPS не нашла нарушений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модуль перепроверил сроки, связи, загрузку и календарь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7360920" y="4572000"/>
            <a:ext cx="4297680" cy="160020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589520" y="4892040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252" y="5033772"/>
            <a:ext cx="283464" cy="28346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321040" y="46817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в SynAPS — точная оптимизация CP-SAT: «оптимум» и «невыполнимо» только с доказательством, причина у каждого переноса принятого плана. Языковая модель по умолчанию выключена и план не меняет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стенд снимает 50 дней просрочки вех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ОКР на 4 площадках: КБ, опытный завод, испытательная станция, серийный завод. Данные учебные, имена выдуманы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27889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19072"/>
          <a:ext cx="7498080" cy="226771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Окончание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Просрочка вех, раб. дн.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Вердикт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23.08.2028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допустим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Резерв ресурсов 20 %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25.01.2029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допустим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Стабильность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31.08.2028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допустим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Баланс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23.08.2028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допустим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Приоритет ОКР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16.10.2028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оптимум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если: второй стенд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12.10.2028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допустим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если: без ОКР-4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E4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05.07.2028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оптимум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52422" y="4023360"/>
            <a:ext cx="7177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«Допустим» — план принят, оптимум за 8 с не доказан. «Оптимум» — по цели своего варианта. «Что если» — на изменённой программе</a:t>
            </a:r>
            <a:endParaRPr lang="en-US" sz="950" dirty="0"/>
          </a:p>
        </p:txBody>
      </p:sp>
      <p:sp>
        <p:nvSpPr>
          <p:cNvPr id="5" name="Shape 4"/>
          <p:cNvSpPr/>
          <p:nvPr/>
        </p:nvSpPr>
        <p:spPr>
          <a:xfrm>
            <a:off x="8641080" y="1600200"/>
            <a:ext cx="3017520" cy="8412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1673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23.08.2028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окончание программы в варианте «Сроки»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41080" y="2542032"/>
            <a:ext cx="3017520" cy="8412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23960" y="26151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раб. дн.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просрочка вех без ОКР-4, оптимум доказан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3483864"/>
            <a:ext cx="3017520" cy="8412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23960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раб. дн.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 вторым стендом, было 139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 В ИСХОДНЫХ ПЛАНАХ ДО РАСЧЁТА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956048"/>
            <a:ext cx="2651760" cy="11704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5029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7492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споров ОКР за общий ресурс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46704" y="4956048"/>
            <a:ext cx="2651760" cy="11704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47872" y="5029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4398264" y="507492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перегрузок пулов специалистов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44768" y="4956048"/>
            <a:ext cx="2651760" cy="11704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45936" y="5029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7196328" y="507492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разорванные связи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942832" y="4956048"/>
            <a:ext cx="2651760" cy="117043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0" y="5029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9994392" y="507492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срока под угрозой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объяснён, невыполнимость доказана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видит ресурс, работу и дату. А если срок недостижим, получает доказательство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ПЕРЕНОСА, ВАРИАНТ «СРОКИ»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+186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70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рабочих дней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«Государственные и сертификационные испытания: работа 3»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Причина: </a:t>
            </a:r>
            <a:r>
              <a:rPr lang="en-US" sz="14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TESTER-2 занят 16.05.2028: «Предварительные испытания: работа 3» (ОКР-2)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639312"/>
          <a:ext cx="6217920" cy="18288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Работа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Сдвиг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Эскизный проект: работа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SYSTEMS-2 занят 12.01.2027: «Эскизный проект: работа 2» (ОКР-3)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Рабочая конструкторская документация: работа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DESIGNER-1 занят 09.06.2027: «Технический проект: работа 1» (ОКР-4)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Изготовление опытного образца: работа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FCC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TECHNOLOGIST-2 занят 06.07.2027: «Изготовление опытного образца: работа 3» (ОКР-3)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121434" y="5532120"/>
            <a:ext cx="5599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три переноса из таблицы «Почему работы перенесены» в отчёте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52360" y="1600200"/>
            <a:ext cx="420624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1828800"/>
            <a:ext cx="640080" cy="640080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19888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0392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НЕВЫПОЛНИМЫЙ СРОК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6517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Директивный срок вехи «Государственные и сертификационные испытания — завершение» ОКР-4: 14.12.2027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37490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 доказывает: при этих связях и ресурсах срок недостижим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называет требование, которое не сходится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Невыполнимый план не публикуется, ложных дат на экране нет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двигают повторные испытания на стенде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Монте-Карло по принятому плану «Сроки» и вклад каждого риска из реестра программы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8961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9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01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19.01.2029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3291840" cy="8961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437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825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09.03.2029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3291840" cy="8961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67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8496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20.04.2029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291840" cy="137160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6460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из 40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выборок уложились в директивные сроки; 139 дней — просрочка плановых сроков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069080" y="1600200"/>
            <a:ext cx="758952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4251960" y="1737360"/>
          <a:ext cx="7223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710022" y="5074920"/>
            <a:ext cx="67199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повторных испытаний после отказа P80 наступает на 40 рабочих дней раньше. Это квантили принятого плана: сразу видно, какой риск сильнее всего бьёт по сроку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Стенды, режимы и переналадка уже в модели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механизма работают под независимой проверкой. Модель повторного испытания добавляем к пилоту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9050">
            <a:solidFill>
              <a:srgbClr val="F08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43100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0" y="1901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487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режимов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862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«стенд А за 5 дней или стенд Б за 8»: точный решатель выбирает один режим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9050">
            <a:solidFill>
              <a:srgbClr val="F08A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01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1943100"/>
            <a:ext cx="283464" cy="2834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09360" y="1901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0936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498848" y="2487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Переналадка стенда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98848" y="2862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Интервал переналадки между состояниями стенда стоит в плане и не прибавляется к работе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0" y="1600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9050">
            <a:solidFill>
              <a:srgbClr val="F08A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47888" y="1801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0" y="1943100"/>
            <a:ext cx="283464" cy="2834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058400" y="1901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05840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247888" y="2487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База, факт, прогноз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247888" y="2862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Начатую работу решатель не двигает, прогноз не раньше даты статуса, всё на диаграмме Ганта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3886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9050">
            <a:solidFill>
              <a:srgbClr val="F08A3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" y="4087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229100"/>
            <a:ext cx="283464" cy="28346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560320" y="4187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56032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49808" y="4773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программы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49808" y="5148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сравнения двух версий: что изменилось в работах, связях, ресурсах и датах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297680" y="3886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98848" y="4087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580" y="4229100"/>
            <a:ext cx="283464" cy="28346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09360" y="4187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8A3C">
              <a:alpha val="20000"/>
            </a:srgbClr>
          </a:solidFill>
          <a:ln w="9525">
            <a:solidFill>
              <a:srgbClr val="F08A3C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3093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пилоту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498848" y="4773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Испытание не прошло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4498848" y="5148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Отказ, доработка и повтор на том же экземпляре. Пересчёт с минимумом перестановок уже есть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8046720" y="3886200"/>
            <a:ext cx="3566160" cy="2103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47888" y="4087368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9620" y="4229100"/>
            <a:ext cx="283464" cy="283464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058400" y="418795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9B44C">
              <a:alpha val="20000"/>
            </a:srgbClr>
          </a:solidFill>
          <a:ln w="9525">
            <a:solidFill>
              <a:srgbClr val="E9B44C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05840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пилоте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247888" y="4773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с 1С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8247888" y="5148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выгрузку заказчика в MS Project XML или Excel по согласованному формату</a:t>
            </a:r>
            <a:endParaRPr lang="en-US" sz="12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 проверен на мировых эталонах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наборы задач, на которых сравнивают методы исследовательские группы и разработчики решателей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31520" y="1691640"/>
          <a:ext cx="56692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23036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j30 — доказано 472 из 480 (98,3 %), у 476 длительность равна известному оптимуму, отклонение 0,013 %. j60 — доказано 405 из 480 (84,4 %). j120 — доказано 259 из 600 (43,2 %)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12280" y="1600200"/>
            <a:ext cx="4846320" cy="1005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18013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7099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 RCPSP/max: все невыполнимые распознаны с доказательством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12280" y="2743200"/>
            <a:ext cx="4846320" cy="1005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9443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28529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автотестов на 07.10.2026; те же данные и настройки дают тот же план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12280" y="3886200"/>
            <a:ext cx="4846320" cy="1005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40873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2 688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39959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 в 64 ОКР: крупная учебная программа рассчитана и принята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12280" y="5029200"/>
            <a:ext cx="4846320" cy="1005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52303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51389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ложных принятий на 150 случайных подменах принятого плана в тестах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 добавляет доказательство и причины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 читает выгрузки MS Project и Primavera и возвращает проверенный план в MS Project XML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3950208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нужно программе ОКР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Ручная сводка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Project / P6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Spider Project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SynAPS-ProgramPlan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Свести планы разных форматов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9B4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вручную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своём формате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Project, P6, Excel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Выровнять общие ресурсы портфеля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9B4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эвристика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CP-SAT, 7 вариантов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Доказать, что срок невыполним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заявлено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да, с требованиями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причину каждого переноса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заявлено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ресурс, работа, дата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план независимо от расчёта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заявлено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три проверки подряд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Оценить риск срыва P50 / P80 / P90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9B4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надстройки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 и вклад каждого риска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Журнал решений с контролем правки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8094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заявлено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хеш-цепочка и якорь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по открытой документации продуктов. На пилоте сравним с выравниванием MS Project на тех же данных ОДК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доверия собрано по мировой практике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Мировой тренд: точный решатель, независимая проверка и объяснения, где каждое утверждение проверяемо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оптимизация с доказательством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618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CP-SAT: доказанный оптимум и причины невыполнимости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52560" y="17099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0" y="1709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Независимая проверка каждого плана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58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модуль без кода решателя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235000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98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всех типов, предельные задержки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898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RCPSP/max с календарями, Kreter и др., 2017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99008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2990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9300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38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Многопроектность и общие ресурсы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387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ОКР, Browning &amp; Yassine, 2010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36301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3630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1788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и переналадка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178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А или Б, переналадка внутри плана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42702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188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 только пересказывает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8188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умолчанию выключена; текст только из фактов плана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2560" y="49103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6C990">
              <a:alpha val="20000"/>
            </a:srgbClr>
          </a:solidFill>
          <a:ln w="9525">
            <a:solidFill>
              <a:srgbClr val="56C9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52560" y="4910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13248"/>
            <a:ext cx="8321040" cy="548640"/>
          </a:xfrm>
          <a:prstGeom prst="snip2DiagRect">
            <a:avLst/>
          </a:prstGeom>
          <a:solidFill>
            <a:srgbClr val="0F1922">
              <a:alpha val="92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4589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повторного испытания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54589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отказ, доработка, повтор; пересчёт уже есть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52560" y="555040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08A3C">
              <a:alpha val="20000"/>
            </a:srgbClr>
          </a:solidFill>
          <a:ln w="9525">
            <a:solidFill>
              <a:srgbClr val="F08A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52560" y="5550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пилоту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607040" y="1572768"/>
            <a:ext cx="1051560" cy="43891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80192" y="1737360"/>
            <a:ext cx="914400" cy="40233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 · проверка · объяснение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Schutt et al., J. Scheduling 2013; Kreter, Schutt, Stuckey, Constraints 2017; Browning &amp; Yassine, IJPE 2010; van den Houten et al., AAAI 2025</a:t>
            </a:r>
            <a:endParaRPr lang="en-US" sz="9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считаем в рублях по вашим ставкам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Рублёвую цифру даст пилот: формулу согласуем вместе, ставки и цены даёт ОДК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РЫЧАГ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СЧИТАЕМ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0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ВИДНО УЖЕ НА ПОКАЗЕ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109960" cy="7315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48256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84708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Трудозатраты на сводку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18470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(часы планировщиков на цикл до − после) × ставка × циклы за год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0665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1847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 из 4 ОКР и 7 вариантов собирается примерно за 33 секунды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11109960" cy="7315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8986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 вех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3337560" y="2697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снятые дни просрочки вех × цена дня сдвига вехи (оценка ОДК)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91693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программа: второй стенд снимает 50 рабочих дней просрочки вех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547872"/>
            <a:ext cx="11109960" cy="7315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749040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5478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Стенды и специалисты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3337560" y="3547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снятые часы простоя стендов × цена часа стенда (оценка ОДК)</a:t>
            </a:r>
            <a:endParaRPr lang="en-US" sz="13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6732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412480" y="35478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конфликта в учебных планах найдены ещё до расчёта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548640" y="4398264"/>
            <a:ext cx="11109960" cy="73152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599432"/>
            <a:ext cx="329184" cy="32918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34440" y="43982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решений</a:t>
            </a:r>
            <a:endParaRPr lang="en-US" sz="1450" dirty="0"/>
          </a:p>
        </p:txBody>
      </p:sp>
      <p:sp>
        <p:nvSpPr>
          <p:cNvPr id="28" name="Text 19"/>
          <p:cNvSpPr txBox="1"/>
          <p:nvPr/>
        </p:nvSpPr>
        <p:spPr>
          <a:xfrm>
            <a:off x="3337560" y="439826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(часы на разбор отклонений до − после) × ставка × разборы за год</a:t>
            </a:r>
            <a:endParaRPr lang="en-US" sz="13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1772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412480" y="43982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перенос в плане показа — 71 объяснение причины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548640" y="5349240"/>
            <a:ext cx="6675120" cy="914400"/>
          </a:xfrm>
          <a:prstGeom prst="snip2DiagRect">
            <a:avLst/>
          </a:prstGeom>
          <a:solidFill>
            <a:srgbClr val="2A1C10">
              <a:alpha val="90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605272"/>
            <a:ext cx="384048" cy="38404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280160" y="534924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Ретроспективный прогон. 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Берём ваш план прошлого квартала и сравниваем, что система увидела бы заранее, с тем, что случилось на деле. Это эффект на ваших данных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7406640" y="5349240"/>
            <a:ext cx="4251960" cy="91440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5605272"/>
            <a:ext cx="365760" cy="38404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092440" y="5349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Базовую линию снимаем до старта: часы на сводку, дни просрочки, простои стендов. Фиксируем её в договоре пилота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Платный пилот в контуре ОДК до конца 2026 года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Короткий, с ясной областью и измеримыми критериями. Укладываемся в срок запроса, 31.12.2026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607040" cy="0"/>
          </a:xfrm>
          <a:prstGeom prst="line">
            <a:avLst/>
          </a:prstGeom>
          <a:noFill/>
          <a:ln w="19050">
            <a:solidFill>
              <a:srgbClr val="F08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7632"/>
            <a:ext cx="219456" cy="219456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566160" cy="17830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505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Договор, методика и базовая линия. Обезличивание у вас. Настройка под ваши стенды и испытания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627632"/>
            <a:ext cx="219456" cy="219456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011680"/>
            <a:ext cx="3566160" cy="17830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22225">
            <a:solidFill>
              <a:srgbClr val="F08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4505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вашим планировщиком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Сводный план ваших ОКР, конфликты, варианты. Решение принимает планировщик ОДК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27632"/>
            <a:ext cx="219456" cy="219456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011680"/>
            <a:ext cx="3566160" cy="17830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7888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4505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Испытания и протокол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Испытания по программе и методике, протокол, пакет оценки зрелости по ГОСТ Р 58048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440680" cy="2148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ПИЛОТА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программа или 2–4 ОКР с общими стендами и людьми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обезличенных плана: MS Project, Primavera или Excel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Эксперт-планировщик ОДК и владелец процесса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по этапам, цена после фиксации области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5440680" cy="214884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ОДК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 и качество ваших графиков в первую неделю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 сводный план и варианты со сроками и загрузкой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 на прошлом квартале и сравнение с MS Project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и эффект по согласованной формуле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приёмки фиксируем до старта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взяты из методики пилота. Каждый критерий измеряем на ваших планах и вносим в протокол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3891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пилота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уже показала система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Опубликованные планы прошли проверку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100 %, ноль ложных принятий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ложных принятий на 150 подменах плана в тестах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Первый план / улучшенный / пакет вариантов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 с / ≤ 30 с / 2–5 мин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 ≈ 33 с; 2 688 работ: быстрый план за 34 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Пересчёт после локального события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30 с, &lt; 10 % несвязанных сдвигов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работ, правка одной: 77 сдвигов, все связаны с ней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Конфликты подтверждает эксперт ОДК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90 %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конфликта найдены на учебной программе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Просрочка вех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хуже ручного плана и MS Project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B4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покажем на данных ОДК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Причина у каждого переноса и её понятность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100 %; оценка эксперта ≥ 4 из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6C9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 из 71 переноса плана показа с причиной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Трудозатраты на цикл сводки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замер до и после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B4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покажем на данных ОДК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ОДК не покидают закрытый контур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работает без интернета и готова к проверке службой безопасности заказчика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4767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0894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без интернета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0312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из закреплённого набора пакетов, отчёт открывается в браузере без сервера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4767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20894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7556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Обезличивание у вас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210312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заменяет имена кодами и сдвигает даты до передачи данных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41071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355244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218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56616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 желанию: по умолчанию выключена, в сеть не ходит, план не меняет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34840" y="306324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17720" y="341071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5524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49240" y="3218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TLS, журнал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349240" y="356616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по ролям и TLS. Правку журнала выдаёт хеш-цепочка, подмену — внешний якорь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52628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87375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" y="501548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681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 и состав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 MIT, перечень компонентов CycloneDX, лицензии всех зависимостей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434840" y="4526280"/>
            <a:ext cx="3703320" cy="129844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617720" y="4873752"/>
            <a:ext cx="566928" cy="56692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9452" y="501548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49240" y="4681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в MS Project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534924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 план возвращается в MS Project XML вместе с базовым планом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366760" y="1600200"/>
            <a:ext cx="3291840" cy="4224528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ТИРАЖИРОВАНИЮ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595360" y="2221992"/>
            <a:ext cx="384048" cy="384048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59536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787384" y="2624328"/>
            <a:ext cx="0" cy="457200"/>
          </a:xfrm>
          <a:prstGeom prst="line">
            <a:avLst/>
          </a:prstGeom>
          <a:noFill/>
          <a:ln w="12700">
            <a:solidFill>
              <a:srgbClr val="F08A3C"/>
            </a:solidFill>
            <a:prstDash val="dash"/>
          </a:ln>
        </p:spPr>
      </p:sp>
      <p:sp>
        <p:nvSpPr>
          <p:cNvPr id="39" name="Text 31"/>
          <p:cNvSpPr txBox="1"/>
          <p:nvPr/>
        </p:nvSpPr>
        <p:spPr>
          <a:xfrm>
            <a:off x="90982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9098280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обезличенных плана ОКР в вашем контуре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8595360" y="3118104"/>
            <a:ext cx="384048" cy="38404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5953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8787384" y="3520440"/>
            <a:ext cx="0" cy="457200"/>
          </a:xfrm>
          <a:prstGeom prst="line">
            <a:avLst/>
          </a:prstGeom>
          <a:noFill/>
          <a:ln w="12700">
            <a:solidFill>
              <a:srgbClr val="F08A3C"/>
            </a:solidFill>
            <a:prstDash val="dash"/>
          </a:ln>
        </p:spPr>
      </p:sp>
      <p:sp>
        <p:nvSpPr>
          <p:cNvPr id="44" name="Text 36"/>
          <p:cNvSpPr txBox="1"/>
          <p:nvPr/>
        </p:nvSpPr>
        <p:spPr>
          <a:xfrm>
            <a:off x="909828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испытаний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909828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измеренные эффекты по программе и методике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8595360" y="4014216"/>
            <a:ext cx="384048" cy="38404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85953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8787384" y="4416552"/>
            <a:ext cx="0" cy="457200"/>
          </a:xfrm>
          <a:prstGeom prst="line">
            <a:avLst/>
          </a:prstGeom>
          <a:noFill/>
          <a:ln w="12700">
            <a:solidFill>
              <a:srgbClr val="F08A3C"/>
            </a:solidFill>
            <a:prstDash val="dash"/>
          </a:ln>
        </p:spPr>
      </p:sp>
      <p:sp>
        <p:nvSpPr>
          <p:cNvPr id="49" name="Text 41"/>
          <p:cNvSpPr txBox="1"/>
          <p:nvPr/>
        </p:nvSpPr>
        <p:spPr>
          <a:xfrm>
            <a:off x="9098280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зрелости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9098280" y="4279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по ГОСТ Р 58048 по итогам пилота</a:t>
            </a:r>
            <a:endParaRPr lang="en-US" sz="1150" dirty="0"/>
          </a:p>
        </p:txBody>
      </p:sp>
      <p:sp>
        <p:nvSpPr>
          <p:cNvPr id="51" name="Shape 43"/>
          <p:cNvSpPr/>
          <p:nvPr/>
        </p:nvSpPr>
        <p:spPr>
          <a:xfrm>
            <a:off x="8595360" y="4910328"/>
            <a:ext cx="384048" cy="384048"/>
          </a:xfrm>
          <a:prstGeom prst="ellipse">
            <a:avLst/>
          </a:prstGeom>
          <a:solidFill>
            <a:srgbClr val="1B2833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859536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9098280" y="4882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Тиражирование</a:t>
            </a:r>
            <a:endParaRPr lang="en-US" sz="1400" dirty="0"/>
          </a:p>
        </p:txBody>
      </p:sp>
      <p:sp>
        <p:nvSpPr>
          <p:cNvPr id="54" name="Text 46"/>
          <p:cNvSpPr txBox="1"/>
          <p:nvPr/>
        </p:nvSpPr>
        <p:spPr>
          <a:xfrm>
            <a:off x="9098280" y="51755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другие программы ОДК</a:t>
            </a:r>
            <a:endParaRPr lang="en-US" sz="11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Авторы системы ведут ваш пилот лично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каждой цифрой на этих слайдах стоит тест, замер или файл в открытом репозитории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5" name="Image 0" descr="/home/claude/work/assets/photo_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783080"/>
            <a:ext cx="2103120" cy="2103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023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Коньков Дмитрий Викторович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и архитектор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модель программы ОКР, ядро SynAPS, решатель, независимая проверка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pic>
        <p:nvPicPr>
          <p:cNvPr id="10" name="Image 1" descr="/home/claude/work/assets/photo_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783080"/>
            <a:ext cx="2103120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4023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Конькова Елена Юрьевна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Расчётный контур и проверка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 плана, анализ риска, объяснения переносов, приёмочные испытания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4526280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РАБОТАЕМ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2194560"/>
            <a:ext cx="3108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 в документах автоматически сверяются с расчётом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ограничение реализуем дважды: в решателе и в проверке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данные и настройки — тот же план до последней даты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предлагает, решение утверждает эксперт заказчика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103120" cy="4251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шага к пилоту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Согласуем область пилота и запускаем подготовку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514600"/>
            <a:ext cx="512064" cy="512064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487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обезличенных плана ОКР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Project, Primavera или Excel. Скрипт обезличивания передадим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55848"/>
            <a:ext cx="512064" cy="512064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355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3284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 стендов и специалистов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Допуски, календари, обслуживание, контрольные даты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97096"/>
            <a:ext cx="512064" cy="512064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1696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процесса и эксперт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5171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базовой линии: кто сводит план и сколько труда уходит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5852160" cy="1325880"/>
          </a:xfrm>
          <a:prstGeom prst="snip2DiagRect">
            <a:avLst/>
          </a:prstGeom>
          <a:solidFill>
            <a:srgbClr val="0F1922">
              <a:alpha val="85000"/>
            </a:srgbClr>
          </a:solidFill>
          <a:ln w="12700">
            <a:solidFill>
              <a:srgbClr val="F08A3C"/>
            </a:solidFill>
            <a:prstDash val="solid"/>
          </a:ln>
        </p:spPr>
      </p:sp>
      <p:pic>
        <p:nvPicPr>
          <p:cNvPr id="18" name="Image 1" descr="/home/claude/work/assets/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212080"/>
            <a:ext cx="1051560" cy="10515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920240" y="5212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Коньков Дмитрий Викторович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и архитектор SynAPS</a:t>
            </a:r>
            <a:endParaRPr lang="en-US" sz="1350" dirty="0"/>
          </a:p>
          <a:p>
            <a:pPr marL="0" indent="0">
              <a:buNone/>
            </a:pPr>
            <a:r>
              <a:rPr lang="en-US" sz="1350" u="sng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github.com/KonkovDV/SynAPS-ProgramPlan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Приложение. Ответы на частые вопросы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ответ опирается на тест, замер или файл в репозитории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вариант не «оптимальный»?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принят и прошёл три проверки. Доказать оптимум за 8 секунд решатель не успел, и система так и пишет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загрузить наш файл MS Project?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07568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 XML, Primavera и Excel покрыты тестами, MPP читаем через MPXJ. Ваш файл MS Project проверим на пилоте, 1С — через XML или 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работ выдержит система?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844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2 688 работ в 64 ОКР — оба решателя. 5 010 — допустимый план за 117,8 с. 8 700 работ упираются в предел 120 с быстрого поиска, 10 020 не входят в модель ядра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46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эффект в деньгах?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844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Считаем по формуле с вашими ставками. Базовую линию снимаем до старта и фиксируем в договоре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548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Учитываете переналадку стендов?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932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Да: состояния стенда и интервал переналадки входят в план точного решателя и в независимую проверку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617720"/>
            <a:ext cx="5440680" cy="1353312"/>
          </a:xfrm>
          <a:prstGeom prst="snip2DiagRect">
            <a:avLst/>
          </a:prstGeom>
          <a:solidFill>
            <a:srgbClr val="0F1922">
              <a:alpha val="88000"/>
            </a:srgbClr>
          </a:solidFill>
          <a:ln w="12700">
            <a:solidFill>
              <a:srgbClr val="3B55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7548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 должны верить плану?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0932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C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трёх проверок даты не выходят из системы. 150 подмен принятого плана в тестах — ни одного ложного принятия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3EA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3756</Words>
  <Application>Microsoft Office PowerPoint</Application>
  <PresentationFormat>Широкоэкранный</PresentationFormat>
  <Paragraphs>454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SynAPS-ProgramPlan — пилот для АО «ОДК»</dc:title>
  <dc:subject>PptxGenJS Presentation</dc:subject>
  <dc:creator>Коньков Д. В.</dc:creator>
  <cp:lastModifiedBy>Ivan Ivanov</cp:lastModifiedBy>
  <cp:revision>2</cp:revision>
  <dcterms:created xsi:type="dcterms:W3CDTF">2026-10-07T09:47:10Z</dcterms:created>
  <dcterms:modified xsi:type="dcterms:W3CDTF">2026-10-07T09:50:24Z</dcterms:modified>
</cp:coreProperties>
</file>