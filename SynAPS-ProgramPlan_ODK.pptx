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lang="ru-RU" sz="1400" b="0" i="0" u="none" strike="noStrike">
                <a:solidFill>
                  <a:srgbClr val="FFFFFF"/>
                </a:solidFill>
                <a:latin typeface="+mn-lt"/>
              </a:rPr>
              <a:t>На сколько рабочих дней раньше станет P80 без этого риска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Выигрыш P80, рабочих дней</c:v>
                </c:pt>
              </c:strCache>
            </c:strRef>
          </c:tx>
          <c:spPr>
            <a:solidFill>
              <a:srgbClr val="F08A3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FFFFFF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Повторные испытания после отказа на стенде</c:v>
                </c:pt>
                <c:pt idx="1">
                  <c:v>Задержка поставки комплектующих</c:v>
                </c:pt>
                <c:pt idx="2">
                  <c:v>Замечания сертификационных испытаний</c:v>
                </c:pt>
                <c:pt idx="3">
                  <c:v>Доработка КД по замечаниям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8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E8-4328-977C-D200E391310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50" b="0" i="0" u="none" strike="noStrike">
                <a:solidFill>
                  <a:srgbClr val="DCE4E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lang="ru-RU" sz="1500" b="0" i="0" u="none" strike="noStrike">
                <a:solidFill>
                  <a:srgbClr val="FFFFFF"/>
                </a:solidFill>
                <a:latin typeface="+mn-lt"/>
              </a:rPr>
              <a:t>1 560 задач PSPLIB: все планы приняты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Планов принято, %</c:v>
                </c:pt>
              </c:strCache>
            </c:strRef>
          </c:tx>
          <c:spPr>
            <a:solidFill>
              <a:srgbClr val="5E7D93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PSPLIB j30</c:v>
                </c:pt>
                <c:pt idx="1">
                  <c:v>PSPLIB j60</c:v>
                </c:pt>
                <c:pt idx="2">
                  <c:v>PSPLIB j120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3F2-4F05-8008-353F17D95B6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Оптимальность доказана, %</c:v>
                </c:pt>
              </c:strCache>
            </c:strRef>
          </c:tx>
          <c:spPr>
            <a:solidFill>
              <a:srgbClr val="F08A3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PSPLIB j30</c:v>
                </c:pt>
                <c:pt idx="1">
                  <c:v>PSPLIB j60</c:v>
                </c:pt>
                <c:pt idx="2">
                  <c:v>PSPLIB j120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98</c:v>
                </c:pt>
                <c:pt idx="1">
                  <c:v>84</c:v>
                </c:pt>
                <c:pt idx="2">
                  <c:v>43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3F2-4F05-8008-353F17D95B6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50" b="0" i="0" u="none" strike="noStrike">
                <a:solidFill>
                  <a:srgbClr val="DCE4E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DCE4E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79849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Добрый день! Мы пришли с системой, которая на каждый срок программы ОКР отвечает прямо: сходится он или нет, и почему. Сейчас покажем её в работе на учебной программе. А в конце предложим пилот на двух-трёх ваших обезличенных планах, который уложится до конца года.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у вас есть всего минута, вот она. Боль знакома каждому руководителю программы, решение покажем вживую, доказательства возьмём с открытых эталонов. А в конце предложим пилот в срок вашего запроса и покажем, как посчитать его эффект в рублях.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ОДК держит редкий темп: ПД-8 сертифицирован вдвое быстрее мирового срока, рядом идут ещё несколько программ, а стенды и люди у них общие. Источники: «Фонтанка» от 5 июня 2026 года, Profile.ru от 20 марта 2026 года, «Новый компаньон» от 13 марта 2026 года про стенд для ПД-35. Вопрос в зал: сколько человеко-дней у вас уходит на один цикл сводки? Запишем ответ, с него начнётся расчёт эффекта.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зеркало предыдущего слайда, строка в строку. Посмотрите на третью строку: если срок невыполним, система это доказывает и называет требования, которые нужно ослабить. С таким ответом уже можно идти к руководству программы.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 на этом слайде: план, который не прошёл проверку или был подменён, не попадёт ни в отчёт, ни в выгрузку, и ручная правка мышью проходит ту же проверку. Ещё до расчёта планировщик получит разбор качества своего графика по образцу мировой методики оценки расписаний. Вердикт всегда точный: «оптимален» только с доказательством, «допустим», когда план принят, «невыполним» только при доказательстве.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Переключаюсь в отчёт: таблица вариантов, Гант со свёрткой ОКР-1 и фильтром «Испытательная станция», затем конфликты и причины переносов. Ещё до всякой оптимизации система нашла в исходных планах 5 споров за общий ресурс и 13 перегрузок. Представьте такой реестр по вашим планам в первую неделю пилота.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фраза, которую можно сразу нести руководителю: работа сдвинута на 186 рабочих дней, потому что стенд TESTER-2 16 мая 2028 года занят испытаниями ОКР-2. Справа обратный случай: дату 14 декабря 2027 года взять нельзя, и система это доказывает. А как сейчас вы объясняете руководству, почему срок поехал?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P80 читается так: в восьми случаях из десяти программа закончится не позже 9 марта 2029 года. Это разброс уже принятого плана, и по нему видно, куда вкладывать резерв. Повторные испытания после отказа на стенде одни стоят 40 рабочих дней. Какой риск в вашем реестре стоит первым?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Стенд в модели уже живёт своей жизнью: у него есть состояние и переналадка, а работа может пойти на стенд А или Б, и решатель выберет режим сам. Каждое такое правило заново проверяет независимый модуль. К пилоту добавим событие «испытание не прошло» с повтором, тот самый главный риск с прошлого слайда, а крупные программы возьмём следующим этапом. Какие стенды у вас сегодня загружены сильнее всего?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j30 мировое сообщество решило полностью, поэтому мы показываем и тяжёлые j60 и j120. Самое ценное здесь: ни один принятый план не нарушил ограничений, и ни один доказанный оптимум не разошёлся с известным. Новые правила для стендов покрыты автотестами наравне со всем остальным, и ту же дисциплину мы приносим на ваши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Spider Project сильный продукт: он умеет выравнивание ресурсов и Монте-Карло, и мы с ним не спорим. Наша сила в трёх строках: доказанная невыполнимость, причина каждого переноса и независимая проверка плана. MS Project и P6 выравнивают эвристикой, и на пилоте мы сравним результат на одних и тех же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Одного алгоритма, который сразу решает многопроектную задачу с испытаниями, переналадкой и неопределённостью, в мире нет. Промышленный подход собирают из слоёв: точный решатель, независимая проверка, объяснения и утверждение человеком. Шесть слоёв из семи у нас уже работают, включая режимы и переналадку стендов, а события испытаний добавим к пилоту.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строка здесь формула, а параметры назовёте вы: ставку, цену дня сдвига вехи, стоимость стендо-часа. Базовую линию снимаем до старта и вписываем в договор, так эффект ИИ в промышленности и доказывают, об этом в 2026 году писали Deloitte и HiveMQ. А ретроспективный прогон на вашем прошлом квартале покажет эффект раньше, чем вы поменяете хоть один процесс.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Первая польза появится уже в первую неделю: реестр конфликтов и разбор качества ваших исходных графиков, ещё до оптимизации. Стоимость назовём, как только зафиксируем область, оплата идёт по этапам. И всё укладывается в срок вашего запроса, до конца года.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Обещаниям никто не верит, поэтому у каждого критерия есть метод измерения и пункт в программе и методике испытаний. Две строки мы измерим именно на ваших данных, ради этого пилот и затевается. Назовите, какой критерий для вас главный, и он станет первым пунктом протокола.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службы безопасности главное: данные не уходят наружу, обезличивание выполняете вы сами, языковая модель по умолчанию выключена. Зрелость по ГОСТ Р 58048 оценивает комиссия по итогам пилота, и протокол испытаний даёт ей для этого материал. Дальше путь простой: от одной программы к остальным.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Нас двое, и мы отвечаем за каждую цифру на этих слайдах. Код, тесты, журнал решений и инструкция установки лежат в открытом репозитории, их можно проверить и без нас. На пилоте вы работаете напрямую с авторами системы.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Сегодня просим три вещи: планы, справочник и человека, который знает процесс. Скрипт обезличивания передадим вместе с методикой испытаний, а описание сводки станет базовой линией для расчёта эффекта. Когда удобно назначить рабочую встречу с вашим планировщиком?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Резервный слайд, открываем по вопросу из зала. Про вердикт «допустимый» говорим спокойно: система не приукрашивает вердикт, и именно поэтому её словам можно верить. На большинство вопросов лучший ответ дадут ваши данные на пилоте.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m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47472"/>
            <a:ext cx="1417320" cy="28620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94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SynAPS-ProgramPlan · запрос № 1 АО «ОДК»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E3EA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E3EA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image" Target="../media/image29.png"/><Relationship Id="rId4" Type="http://schemas.openxmlformats.org/officeDocument/2006/relationships/image" Target="../media/image15.png"/><Relationship Id="rId9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2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4.png"/><Relationship Id="rId5" Type="http://schemas.openxmlformats.org/officeDocument/2006/relationships/image" Target="../media/image22.png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8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KonkovDV/SynAPS-ProgramPlan" TargetMode="External"/><Relationship Id="rId4" Type="http://schemas.openxmlformats.org/officeDocument/2006/relationships/image" Target="../media/image3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m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1480"/>
            <a:ext cx="2103120" cy="4251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993392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SynAPS-ProgramPlan</a:t>
            </a:r>
            <a:endParaRPr lang="en-US" sz="4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8803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E6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Сводный план программы ОКР, в котором видно, сходится ли срок и почему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48640" y="397764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F08A3C">
              <a:alpha val="20000"/>
            </a:srgbClr>
          </a:solidFill>
          <a:ln w="9525">
            <a:solidFill>
              <a:srgbClr val="F08A3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977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Двойная проверка плана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2487168" y="3977640"/>
            <a:ext cx="2057400" cy="274320"/>
          </a:xfrm>
          <a:prstGeom prst="roundRect">
            <a:avLst>
              <a:gd name="adj" fmla="val 50000"/>
            </a:avLst>
          </a:prstGeom>
          <a:solidFill>
            <a:srgbClr val="F08A3C">
              <a:alpha val="20000"/>
            </a:srgbClr>
          </a:solidFill>
          <a:ln w="9525">
            <a:solidFill>
              <a:srgbClr val="F08A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87168" y="39776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Причина каждого переноса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654296" y="3977640"/>
            <a:ext cx="2103120" cy="274320"/>
          </a:xfrm>
          <a:prstGeom prst="roundRect">
            <a:avLst>
              <a:gd name="adj" fmla="val 50000"/>
            </a:avLst>
          </a:prstGeom>
          <a:solidFill>
            <a:srgbClr val="F08A3C">
              <a:alpha val="20000"/>
            </a:srgbClr>
          </a:solidFill>
          <a:ln w="9525">
            <a:solidFill>
              <a:srgbClr val="F08A3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54296" y="3977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 в закрытом контуре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48056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на запрос № 1: сводный план программы ОКР с учётом общих стендов и специалистов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349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Докладчик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6235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Коньков Дмитрий Викторович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Основатель и архитектор SynAPS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Соберём вашу программу целиком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Вся встреча на одном слайде: что болит, что делаем, чем докажем и что предлагаем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51760" cy="361188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20240"/>
            <a:ext cx="731520" cy="731520"/>
          </a:xfrm>
          <a:prstGeom prst="ellipse">
            <a:avLst/>
          </a:prstGeom>
          <a:solidFill>
            <a:srgbClr val="1B2833"/>
          </a:solidFill>
          <a:ln w="12700">
            <a:solidFill>
              <a:srgbClr val="F08A3C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1031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834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БОЛЬ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20040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план ОКР сходится сам по себе, а вместе они спорят за одни стенды и людей. Сводка отнимает дни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46704" y="1691640"/>
            <a:ext cx="2651760" cy="361188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75304" y="1920240"/>
            <a:ext cx="731520" cy="731520"/>
          </a:xfrm>
          <a:prstGeom prst="ellipse">
            <a:avLst/>
          </a:prstGeom>
          <a:solidFill>
            <a:srgbClr val="1B2833"/>
          </a:solidFill>
          <a:ln w="12700">
            <a:solidFill>
              <a:srgbClr val="F08A3C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8184" y="210312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75304" y="2834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3575304" y="320040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SynAPS сводит планы, находит конфликты до расчёта, строит варианты и объясняет каждый перенос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6144768" y="1691640"/>
            <a:ext cx="2651760" cy="361188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373368" y="1920240"/>
            <a:ext cx="731520" cy="731520"/>
          </a:xfrm>
          <a:prstGeom prst="ellipse">
            <a:avLst/>
          </a:prstGeom>
          <a:solidFill>
            <a:srgbClr val="1B2833"/>
          </a:solidFill>
          <a:ln w="12700">
            <a:solidFill>
              <a:srgbClr val="F08A3C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6248" y="210312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73368" y="2834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ДОКАЗАТЕЛЬСТВО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373368" y="320040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1 560 эталонных задач: все планы приняты. Ни одного ложного принятия из 150 подменённых планов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8942832" y="1691640"/>
            <a:ext cx="2651760" cy="361188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22225">
            <a:solidFill>
              <a:srgbClr val="F08A3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71432" y="1920240"/>
            <a:ext cx="731520" cy="731520"/>
          </a:xfrm>
          <a:prstGeom prst="ellipse">
            <a:avLst/>
          </a:prstGeom>
          <a:solidFill>
            <a:srgbClr val="1B2833"/>
          </a:solidFill>
          <a:ln w="12700">
            <a:solidFill>
              <a:srgbClr val="F08A3C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54312" y="2103120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171432" y="2834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ПРЕДЛОЖЕНИЕ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9171432" y="320040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Платный пилот на 2–3 обезличенных планах. Критерии приёмки фиксируем заранее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548640" y="5486400"/>
            <a:ext cx="11109960" cy="685800"/>
          </a:xfrm>
          <a:prstGeom prst="snip2DiagRect">
            <a:avLst/>
          </a:prstGeom>
          <a:solidFill>
            <a:srgbClr val="2A1C10">
              <a:alpha val="90000"/>
            </a:srgbClr>
          </a:solidFill>
          <a:ln w="12700">
            <a:solidFill>
              <a:srgbClr val="F08A3C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777240" y="54864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ОДК нужно: </a:t>
            </a: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 обезличенных плана ОКР, справочник стендов и специалистов, эксперт-планировщик</a:t>
            </a:r>
            <a:endParaRPr lang="en-US" sz="15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E3EA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план ОКР верен, а вместе не сходятся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мест, где ручная сводка программы теряет время, людей и контрольные сроки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640080" cy="640080"/>
          </a:xfrm>
          <a:prstGeom prst="ellipse">
            <a:avLst/>
          </a:prstGeom>
          <a:solidFill>
            <a:srgbClr val="1B2833"/>
          </a:solidFill>
          <a:ln w="12700">
            <a:solidFill>
              <a:srgbClr val="F08A3C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1787652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609344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Сборка вручную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196596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Планы из MS Project, Primavera и Excel сводят руками при каждой актуализации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542032"/>
            <a:ext cx="640080" cy="640080"/>
          </a:xfrm>
          <a:prstGeom prst="ellipse">
            <a:avLst/>
          </a:prstGeom>
          <a:solidFill>
            <a:srgbClr val="1B2833"/>
          </a:solidFill>
          <a:ln w="12700">
            <a:solidFill>
              <a:srgbClr val="F08A3C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" y="2702052"/>
            <a:ext cx="320040" cy="3200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71600" y="2523744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Скрытая борьба за стенд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1371600" y="288036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Две ОКР претендуют на один стенд, и это всплывает, когда менять план поздно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48640" y="3456432"/>
            <a:ext cx="640080" cy="640080"/>
          </a:xfrm>
          <a:prstGeom prst="ellipse">
            <a:avLst/>
          </a:prstGeom>
          <a:solidFill>
            <a:srgbClr val="1B2833"/>
          </a:solidFill>
          <a:ln w="12700">
            <a:solidFill>
              <a:srgbClr val="F08A3C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" y="3616452"/>
            <a:ext cx="320040" cy="3200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3438144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Нечем доказать невыполнимость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1371600" y="379476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Руководству не показать, какие требования не сходятся и что ослабить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48640" y="4370832"/>
            <a:ext cx="640080" cy="640080"/>
          </a:xfrm>
          <a:prstGeom prst="ellipse">
            <a:avLst/>
          </a:prstGeom>
          <a:solidFill>
            <a:srgbClr val="1B2833"/>
          </a:solidFill>
          <a:ln w="12700">
            <a:solidFill>
              <a:srgbClr val="F08A3C"/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" y="4530852"/>
            <a:ext cx="320040" cy="3200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4352544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ответа на «что если»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1371600" y="470916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Последствия одной правки для всей программы считают днями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548640" y="5285232"/>
            <a:ext cx="640080" cy="640080"/>
          </a:xfrm>
          <a:prstGeom prst="ellipse">
            <a:avLst/>
          </a:prstGeom>
          <a:solidFill>
            <a:srgbClr val="1B2833"/>
          </a:solidFill>
          <a:ln w="12700">
            <a:solidFill>
              <a:srgbClr val="F08A3C"/>
            </a:solidFill>
            <a:prstDash val="solid"/>
          </a:ln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" y="5445252"/>
            <a:ext cx="320040" cy="3200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371600" y="5266944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Решения нигде не записаны</a:t>
            </a:r>
            <a:endParaRPr lang="en-US" sz="1700" dirty="0"/>
          </a:p>
        </p:txBody>
      </p:sp>
      <p:sp>
        <p:nvSpPr>
          <p:cNvPr id="23" name="Text 16"/>
          <p:cNvSpPr txBox="1"/>
          <p:nvPr/>
        </p:nvSpPr>
        <p:spPr>
          <a:xfrm>
            <a:off x="1371600" y="562356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разборе отклонения не видно, кто, что и почему решил</a:t>
            </a:r>
            <a:endParaRPr lang="en-US" sz="1400" dirty="0"/>
          </a:p>
        </p:txBody>
      </p:sp>
      <p:sp>
        <p:nvSpPr>
          <p:cNvPr id="24" name="Shape 17"/>
          <p:cNvSpPr/>
          <p:nvPr/>
        </p:nvSpPr>
        <p:spPr>
          <a:xfrm>
            <a:off x="7498080" y="1627632"/>
            <a:ext cx="4160520" cy="452628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F08A3C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7772400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ТЕМП ОДК, ОТКРЫТЫЕ ИСТОЧНИКИ</a:t>
            </a:r>
            <a:endParaRPr lang="en-US" sz="1100" dirty="0"/>
          </a:p>
        </p:txBody>
      </p:sp>
      <p:sp>
        <p:nvSpPr>
          <p:cNvPr id="26" name="Text 19"/>
          <p:cNvSpPr txBox="1"/>
          <p:nvPr/>
        </p:nvSpPr>
        <p:spPr>
          <a:xfrm>
            <a:off x="7772400" y="2212848"/>
            <a:ext cx="3657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ПД-8 вдвое быстрее. </a:t>
            </a:r>
            <a:r>
              <a:rPr lang="en-US" sz="135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Сертификат типа в июне 2026. В мире на такую задачу уходит 10–12 лет</a:t>
            </a:r>
            <a:endParaRPr lang="en-US" sz="135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Несколько программ сразу. </a:t>
            </a:r>
            <a:r>
              <a:rPr lang="en-US" sz="135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ПД-14, ТВ7‑117СТ‑01, ПД-35, ПД-8. Двигатель — критический элемент программы самолёта</a:t>
            </a:r>
            <a:endParaRPr lang="en-US" sz="135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Стенд дороже всего. </a:t>
            </a:r>
            <a:r>
              <a:rPr lang="en-US" sz="135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Стенд для ПД-35 за 3,7 млрд руб. станет единственным в России. Каждый день на счету</a:t>
            </a:r>
            <a:endParaRPr lang="en-US" sz="1350" dirty="0"/>
          </a:p>
        </p:txBody>
      </p:sp>
      <p:sp>
        <p:nvSpPr>
          <p:cNvPr id="27" name="Text 20"/>
          <p:cNvSpPr txBox="1"/>
          <p:nvPr/>
        </p:nvSpPr>
        <p:spPr>
          <a:xfrm>
            <a:off x="7772400" y="498348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B2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Темп сразу на нескольких программах удержит только общий план стендов и людей</a:t>
            </a:r>
            <a:endParaRPr lang="en-US" sz="14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E3EA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Каждую боль сводки закрывает свой механизм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 же пять мест: слева как сейчас, справа как с SynAPS-ProgramPlan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5727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EE6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СЕГОДНЯ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572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56C9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SYNAPS-PROGRAMPLAN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120640" cy="713232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21408"/>
            <a:ext cx="310896" cy="31089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88720" y="1920240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Планы разных форматов сводят вручную</a:t>
            </a:r>
            <a:endParaRPr lang="en-US" sz="14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2139696"/>
            <a:ext cx="292608" cy="274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217920" y="1920240"/>
            <a:ext cx="5440680" cy="713232"/>
          </a:xfrm>
          <a:prstGeom prst="snip2DiagRect">
            <a:avLst/>
          </a:prstGeom>
          <a:solidFill>
            <a:srgbClr val="1D1A16">
              <a:alpha val="88000"/>
            </a:srgbClr>
          </a:solidFill>
          <a:ln w="12700">
            <a:solidFill>
              <a:srgbClr val="F08A3C"/>
            </a:solidFill>
            <a:prstDash val="solid"/>
          </a:ln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212140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58000" y="1920240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Импорт MS Project, Primavera P6 и Excel, общие ресурсы сводятся сами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548640" y="2770632"/>
            <a:ext cx="5120640" cy="713232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971800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88720" y="2770632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Спор за стенд виден, когда поздно менять план</a:t>
            </a:r>
            <a:endParaRPr lang="en-US" sz="14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2990088"/>
            <a:ext cx="292608" cy="274320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6217920" y="2770632"/>
            <a:ext cx="5440680" cy="713232"/>
          </a:xfrm>
          <a:prstGeom prst="snip2DiagRect">
            <a:avLst/>
          </a:prstGeom>
          <a:solidFill>
            <a:srgbClr val="1D1A16">
              <a:alpha val="88000"/>
            </a:srgbClr>
          </a:solidFill>
          <a:ln w="12700">
            <a:solidFill>
              <a:srgbClr val="F08A3C"/>
            </a:solidFill>
            <a:prstDash val="solid"/>
          </a:ln>
        </p:spPr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2971800"/>
            <a:ext cx="310896" cy="310896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6858000" y="2770632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Перегрузки и споры ОКР за ресурс видны ещё до расчёта плана</a:t>
            </a:r>
            <a:endParaRPr lang="en-US" sz="1400" dirty="0"/>
          </a:p>
        </p:txBody>
      </p:sp>
      <p:sp>
        <p:nvSpPr>
          <p:cNvPr id="20" name="Shape 12"/>
          <p:cNvSpPr/>
          <p:nvPr/>
        </p:nvSpPr>
        <p:spPr>
          <a:xfrm>
            <a:off x="548640" y="3621024"/>
            <a:ext cx="5120640" cy="713232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22192"/>
            <a:ext cx="310896" cy="310896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188720" y="3621024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Невыполнимость срока нечем доказать</a:t>
            </a:r>
            <a:endParaRPr lang="en-US" sz="1400" dirty="0"/>
          </a:p>
        </p:txBody>
      </p:sp>
      <p:pic>
        <p:nvPicPr>
          <p:cNvPr id="23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3840480"/>
            <a:ext cx="292608" cy="274320"/>
          </a:xfrm>
          <a:prstGeom prst="rect">
            <a:avLst/>
          </a:prstGeom>
        </p:spPr>
      </p:pic>
      <p:sp>
        <p:nvSpPr>
          <p:cNvPr id="24" name="Shape 14"/>
          <p:cNvSpPr/>
          <p:nvPr/>
        </p:nvSpPr>
        <p:spPr>
          <a:xfrm>
            <a:off x="6217920" y="3621024"/>
            <a:ext cx="5440680" cy="713232"/>
          </a:xfrm>
          <a:prstGeom prst="snip2DiagRect">
            <a:avLst/>
          </a:prstGeom>
          <a:solidFill>
            <a:srgbClr val="1D1A16">
              <a:alpha val="88000"/>
            </a:srgbClr>
          </a:solidFill>
          <a:ln w="12700">
            <a:solidFill>
              <a:srgbClr val="F08A3C"/>
            </a:solidFill>
            <a:prstDash val="solid"/>
          </a:ln>
        </p:spPr>
      </p:sp>
      <p:pic>
        <p:nvPicPr>
          <p:cNvPr id="25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822192"/>
            <a:ext cx="310896" cy="310896"/>
          </a:xfrm>
          <a:prstGeom prst="rect">
            <a:avLst/>
          </a:prstGeom>
        </p:spPr>
      </p:pic>
      <p:sp>
        <p:nvSpPr>
          <p:cNvPr id="26" name="Text 15"/>
          <p:cNvSpPr txBox="1"/>
          <p:nvPr/>
        </p:nvSpPr>
        <p:spPr>
          <a:xfrm>
            <a:off x="6858000" y="3621024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Система доказывает невыполнимость и называет, что сдвинуть и насколько</a:t>
            </a:r>
            <a:endParaRPr lang="en-US" sz="1400" dirty="0"/>
          </a:p>
        </p:txBody>
      </p:sp>
      <p:sp>
        <p:nvSpPr>
          <p:cNvPr id="27" name="Shape 16"/>
          <p:cNvSpPr/>
          <p:nvPr/>
        </p:nvSpPr>
        <p:spPr>
          <a:xfrm>
            <a:off x="548640" y="4471416"/>
            <a:ext cx="5120640" cy="713232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672584"/>
            <a:ext cx="310896" cy="310896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1188720" y="4471416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Последствия правки считают днями</a:t>
            </a:r>
            <a:endParaRPr lang="en-US" sz="1400" dirty="0"/>
          </a:p>
        </p:txBody>
      </p:sp>
      <p:pic>
        <p:nvPicPr>
          <p:cNvPr id="30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4690872"/>
            <a:ext cx="292608" cy="274320"/>
          </a:xfrm>
          <a:prstGeom prst="rect">
            <a:avLst/>
          </a:prstGeom>
        </p:spPr>
      </p:pic>
      <p:sp>
        <p:nvSpPr>
          <p:cNvPr id="31" name="Shape 18"/>
          <p:cNvSpPr/>
          <p:nvPr/>
        </p:nvSpPr>
        <p:spPr>
          <a:xfrm>
            <a:off x="6217920" y="4471416"/>
            <a:ext cx="5440680" cy="713232"/>
          </a:xfrm>
          <a:prstGeom prst="snip2DiagRect">
            <a:avLst/>
          </a:prstGeom>
          <a:solidFill>
            <a:srgbClr val="1D1A16">
              <a:alpha val="88000"/>
            </a:srgbClr>
          </a:solidFill>
          <a:ln w="12700">
            <a:solidFill>
              <a:srgbClr val="F08A3C"/>
            </a:solidFill>
            <a:prstDash val="solid"/>
          </a:ln>
        </p:spPr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4672584"/>
            <a:ext cx="310896" cy="310896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6858000" y="4471416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Ручная правка проверяется сразу; 7 вариантов со сроками и загрузкой</a:t>
            </a:r>
            <a:endParaRPr lang="en-US" sz="1400" dirty="0"/>
          </a:p>
        </p:txBody>
      </p:sp>
      <p:sp>
        <p:nvSpPr>
          <p:cNvPr id="34" name="Shape 20"/>
          <p:cNvSpPr/>
          <p:nvPr/>
        </p:nvSpPr>
        <p:spPr>
          <a:xfrm>
            <a:off x="548640" y="5321808"/>
            <a:ext cx="5120640" cy="713232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pic>
        <p:nvPicPr>
          <p:cNvPr id="35" name="Image 1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522976"/>
            <a:ext cx="310896" cy="310896"/>
          </a:xfrm>
          <a:prstGeom prst="rect">
            <a:avLst/>
          </a:prstGeom>
        </p:spPr>
      </p:pic>
      <p:sp>
        <p:nvSpPr>
          <p:cNvPr id="36" name="Text 21"/>
          <p:cNvSpPr txBox="1"/>
          <p:nvPr/>
        </p:nvSpPr>
        <p:spPr>
          <a:xfrm>
            <a:off x="1188720" y="5321808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и почему решил, нигде не записано</a:t>
            </a:r>
            <a:endParaRPr lang="en-US" sz="1400" dirty="0"/>
          </a:p>
        </p:txBody>
      </p:sp>
      <p:pic>
        <p:nvPicPr>
          <p:cNvPr id="37" name="Image 1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5541264"/>
            <a:ext cx="292608" cy="274320"/>
          </a:xfrm>
          <a:prstGeom prst="rect">
            <a:avLst/>
          </a:prstGeom>
        </p:spPr>
      </p:pic>
      <p:sp>
        <p:nvSpPr>
          <p:cNvPr id="38" name="Shape 22"/>
          <p:cNvSpPr/>
          <p:nvPr/>
        </p:nvSpPr>
        <p:spPr>
          <a:xfrm>
            <a:off x="6217920" y="5321808"/>
            <a:ext cx="5440680" cy="713232"/>
          </a:xfrm>
          <a:prstGeom prst="snip2DiagRect">
            <a:avLst/>
          </a:prstGeom>
          <a:solidFill>
            <a:srgbClr val="1D1A16">
              <a:alpha val="88000"/>
            </a:srgbClr>
          </a:solidFill>
          <a:ln w="12700">
            <a:solidFill>
              <a:srgbClr val="F08A3C"/>
            </a:solidFill>
            <a:prstDash val="solid"/>
          </a:ln>
        </p:spPr>
      </p:sp>
      <p:pic>
        <p:nvPicPr>
          <p:cNvPr id="39" name="Image 1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5522976"/>
            <a:ext cx="310896" cy="310896"/>
          </a:xfrm>
          <a:prstGeom prst="rect">
            <a:avLst/>
          </a:prstGeom>
        </p:spPr>
      </p:pic>
      <p:sp>
        <p:nvSpPr>
          <p:cNvPr id="40" name="Text 23"/>
          <p:cNvSpPr txBox="1"/>
          <p:nvPr/>
        </p:nvSpPr>
        <p:spPr>
          <a:xfrm>
            <a:off x="6858000" y="5321808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Причина у каждого переноса и журнал решений, защищённый от правки</a:t>
            </a:r>
            <a:endParaRPr lang="en-US" sz="140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E3EA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 публикуется, только пройдя три проверки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разнородных выгрузок до решения руководителя: шесть шагов в закрытом контуре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700784" cy="269748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783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1810512"/>
            <a:ext cx="347472" cy="347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13232" y="22402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Импорт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2633472"/>
            <a:ext cx="1463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 Project, Primavera P6, Excel. Отчёт о потерях импорта и строгий режим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432304" y="1645920"/>
            <a:ext cx="1700784" cy="269748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596896" y="1783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1024" y="1810512"/>
            <a:ext cx="347472" cy="34747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596896" y="22402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Единая модель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2596896" y="2633472"/>
            <a:ext cx="1463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Программа, ОКР, этап, работа. Связи 4 типов, вехи, сроки, календарь РФ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315968" y="1645920"/>
            <a:ext cx="1700784" cy="269748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480560" y="1783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4688" y="1810512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480560" y="22402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Конфликты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4480560" y="2633472"/>
            <a:ext cx="1463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Качество графика, перегрузки, споры за ресурс, сроки под угрозой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199632" y="1645920"/>
            <a:ext cx="1700784" cy="269748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64224" y="1783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8352" y="1810512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364224" y="22402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Варианты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6364224" y="2633472"/>
            <a:ext cx="1463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Точный решатель CP-SAT и быстрый план: «Сроки», «Баланс», «Что если» и другие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8083296" y="1645920"/>
            <a:ext cx="1700784" cy="269748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22225">
            <a:solidFill>
              <a:srgbClr val="F08A3C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247888" y="1783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72016" y="1810512"/>
            <a:ext cx="347472" cy="34747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8247888" y="22402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8247888" y="2633472"/>
            <a:ext cx="1463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Независимый модуль без кода решателя проверяет план заново и выявляет подмену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9966960" y="1645920"/>
            <a:ext cx="1700784" cy="269748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10131552" y="1783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500" dirty="0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55680" y="1810512"/>
            <a:ext cx="347472" cy="34747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0131552" y="22402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10131552" y="2633472"/>
            <a:ext cx="1463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Причины переносов, риск, журнал. Выгрузка в MS Project с базовым планом</a:t>
            </a:r>
            <a:endParaRPr lang="en-US" sz="1200" dirty="0"/>
          </a:p>
        </p:txBody>
      </p:sp>
      <p:sp>
        <p:nvSpPr>
          <p:cNvPr id="34" name="Shape 26"/>
          <p:cNvSpPr/>
          <p:nvPr/>
        </p:nvSpPr>
        <p:spPr>
          <a:xfrm>
            <a:off x="548640" y="4572000"/>
            <a:ext cx="6583680" cy="160020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F08A3C"/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777240" y="470916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УСЛОВИЯ ПУБЛИКАЦИИ ПЛАНА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777240" y="5010912"/>
            <a:ext cx="6217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Решатель нашёл допустимое расписание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ядра SynAPS не нашла нарушений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Отдельный модуль перепроверил сроки, связи, загрузку и календарь</a:t>
            </a:r>
            <a:endParaRPr lang="en-US" sz="1400" dirty="0"/>
          </a:p>
        </p:txBody>
      </p:sp>
      <p:sp>
        <p:nvSpPr>
          <p:cNvPr id="37" name="Shape 29"/>
          <p:cNvSpPr/>
          <p:nvPr/>
        </p:nvSpPr>
        <p:spPr>
          <a:xfrm>
            <a:off x="7360920" y="4572000"/>
            <a:ext cx="4297680" cy="160020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7589520" y="4892040"/>
            <a:ext cx="566928" cy="566928"/>
          </a:xfrm>
          <a:prstGeom prst="ellipse">
            <a:avLst/>
          </a:prstGeom>
          <a:solidFill>
            <a:srgbClr val="1B2833"/>
          </a:solidFill>
          <a:ln w="12700">
            <a:solidFill>
              <a:srgbClr val="F08A3C"/>
            </a:solidFill>
            <a:prstDash val="solid"/>
          </a:ln>
        </p:spPr>
      </p:sp>
      <p:pic>
        <p:nvPicPr>
          <p:cNvPr id="3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31252" y="5033772"/>
            <a:ext cx="283464" cy="283464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8321040" y="46817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в SynAPS — точная оптимизация с доказательством и объяснение каждого решения. Языковая модель подключается по желанию и только пересказывает факты плана</a:t>
            </a:r>
            <a:endParaRPr lang="en-US" sz="130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E3EA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Второй стенд снимает 50 рабочих дней просрочки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ОКР на 4 площадках: КБ, опытный завод, испытательная станция, серийный завод. Данные учебные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7863840" cy="278892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19072"/>
          <a:ext cx="7498080" cy="2267712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Вариант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C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Окончание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C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Просрочка вех, раб. дн.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C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Вердикт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C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DCE4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Сроки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DCE4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23.08.2028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DCE4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BFCCD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допустим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DCE4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Резерв ресурсов 20 %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F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DCE4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25.01.2029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F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DCE4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F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BFCCD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допустим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F2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DCE4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Стабильность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DCE4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31.08.2028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DCE4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BFCCD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допустим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DCE4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Баланс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F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DCE4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23.08.2028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F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DCE4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F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BFCCD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допустим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F2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DCE4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Приоритет ОКР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DCE4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16.10.2028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DCE4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56C9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оптимум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DCE4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если: второй стенд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DCE4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12.10.2028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08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BFCCD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допустим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DCE4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если: без ОКР-4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DCE4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05.07.2028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08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56C9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оптимум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18288" marB="18288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43796" y="4069080"/>
            <a:ext cx="718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094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вариантов плана в отчёте системы</a:t>
            </a:r>
            <a:endParaRPr lang="en-US" sz="1050" dirty="0"/>
          </a:p>
        </p:txBody>
      </p:sp>
      <p:sp>
        <p:nvSpPr>
          <p:cNvPr id="5" name="Shape 4"/>
          <p:cNvSpPr/>
          <p:nvPr/>
        </p:nvSpPr>
        <p:spPr>
          <a:xfrm>
            <a:off x="8641080" y="1600200"/>
            <a:ext cx="3017520" cy="841248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823960" y="16733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23.08.2028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82396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окончание программы в варианте «Сроки»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641080" y="2542032"/>
            <a:ext cx="3017520" cy="841248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823960" y="2615184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раб. дн.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823960" y="3044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просрочка вех без ОКР-4, оптимум доказан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641080" y="3483864"/>
            <a:ext cx="3017520" cy="841248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22225">
            <a:solidFill>
              <a:srgbClr val="F08A3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823960" y="355701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 раб. дн.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8823960" y="39867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 вторым стендом, было 139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617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КОНФЛИКТЫ В ИСХОДНЫХ ПЛАНАХ ДО РАСЧЁТА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4956048"/>
            <a:ext cx="2651760" cy="1170432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9808" y="50292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0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74920"/>
            <a:ext cx="1508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споров ОКР за общий ресурс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3346704" y="4956048"/>
            <a:ext cx="2651760" cy="1170432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547872" y="50292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4000" dirty="0"/>
          </a:p>
        </p:txBody>
      </p:sp>
      <p:sp>
        <p:nvSpPr>
          <p:cNvPr id="22" name="Text 19"/>
          <p:cNvSpPr txBox="1"/>
          <p:nvPr/>
        </p:nvSpPr>
        <p:spPr>
          <a:xfrm>
            <a:off x="4398264" y="5074920"/>
            <a:ext cx="1508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перегрузок пулов специалистов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144768" y="4956048"/>
            <a:ext cx="2651760" cy="1170432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45936" y="50292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25" name="Text 22"/>
          <p:cNvSpPr txBox="1"/>
          <p:nvPr/>
        </p:nvSpPr>
        <p:spPr>
          <a:xfrm>
            <a:off x="7196328" y="5074920"/>
            <a:ext cx="1508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разорванные связи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942832" y="4956048"/>
            <a:ext cx="2651760" cy="1170432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144000" y="50292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28" name="Text 25"/>
          <p:cNvSpPr txBox="1"/>
          <p:nvPr/>
        </p:nvSpPr>
        <p:spPr>
          <a:xfrm>
            <a:off x="9994392" y="5074920"/>
            <a:ext cx="1508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срока под угрозой</a:t>
            </a:r>
            <a:endParaRPr lang="en-US" sz="13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E3EA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Перенос объяснён, невыполнимость доказана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Руководитель видит ресурс, работу и дату. А если срок недостижим, получает доказательство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675120" cy="452628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ПРИЧИНА ПЕРЕНОСА, ВАРИАНТ «СРОКИ»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574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+186</a:t>
            </a:r>
            <a:endParaRPr lang="en-US" sz="4200" dirty="0"/>
          </a:p>
        </p:txBody>
      </p:sp>
      <p:sp>
        <p:nvSpPr>
          <p:cNvPr id="7" name="Text 5"/>
          <p:cNvSpPr txBox="1"/>
          <p:nvPr/>
        </p:nvSpPr>
        <p:spPr>
          <a:xfrm>
            <a:off x="795528" y="267004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B2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рабочих дней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219456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«Государственные и сертификационные испытания: работа 3»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17520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Причина: </a:t>
            </a:r>
            <a:r>
              <a:rPr lang="en-US" sz="145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Стенд TESTER-2 16.05.2028 занят предварительными испытаниями ОКР-2</a:t>
            </a:r>
            <a:endParaRPr lang="en-US" sz="14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639312"/>
          <a:ext cx="6217920" cy="1828800"/>
        </p:xfrm>
        <a:graphic>
          <a:graphicData uri="http://schemas.openxmlformats.org/drawingml/2006/table">
            <a:tbl>
              <a:tblPr/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Работа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C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Сдвиг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C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Почему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C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BFCCD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Эскизный проект: работа 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08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BFCCD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SYSTEMS-2 занят 12.01.2027 работой ОКР-3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BFCCD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Рабочая КД: работа 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08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BFCCD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DESIGNER-1 занят 09.06.2027 работой ОКР-4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BFCCD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Изготовление опытного образца: работа 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08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BFCCD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TECHNOLOGIST-2 занят 07.07.2027 работой ОКР-3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1164566" y="5532120"/>
            <a:ext cx="5556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094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три переноса из таблицы «Почему работы перенесены» в отчёте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452360" y="1600200"/>
            <a:ext cx="4206240" cy="452628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F08A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0" y="1828800"/>
            <a:ext cx="640080" cy="640080"/>
          </a:xfrm>
          <a:prstGeom prst="ellipse">
            <a:avLst/>
          </a:prstGeom>
          <a:solidFill>
            <a:srgbClr val="1B2833"/>
          </a:solidFill>
          <a:ln w="12700">
            <a:solidFill>
              <a:srgbClr val="F08A3C"/>
            </a:solidFill>
            <a:prstDash val="solid"/>
          </a:ln>
        </p:spPr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0980" y="1988820"/>
            <a:ext cx="320040" cy="32004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503920" y="2011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НЕВЫПОЛНИМЫЙ СРОК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7680960" y="26974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Пример с ужесточённым сроком: веха испытаний ОКР-4 к 14.12.2027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7680960" y="3520440"/>
            <a:ext cx="3749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Решатель доказывает: при этих связях и ресурсах дата недостижима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Система называет несовместимые требования и насколько их сдвинуть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Невыполнимый план не публикуется, ложных дат на экране нет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E3EA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 двигают повторные испытания на стенде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Монте-Карло по принятому плану «Сроки» и вклад каждого риска из реестра программы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291840" cy="896112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1965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P50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8013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19.01.2029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48640" y="2624328"/>
            <a:ext cx="3291840" cy="896112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22225">
            <a:solidFill>
              <a:srgbClr val="F08A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84378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P80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2825496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09.03.2029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548640" y="3648456"/>
            <a:ext cx="3291840" cy="896112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86791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P90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384962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20.04.2029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548640" y="4754880"/>
            <a:ext cx="3291840" cy="137160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864608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56C9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2200" dirty="0"/>
          </a:p>
          <a:p>
            <a:pPr marL="0" indent="0">
              <a:buNone/>
            </a:pPr>
            <a:r>
              <a:rPr lang="en-US" sz="12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выборок с соблюдёнными директивными сроками; 139 дней — просрочка по плановым срокам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069080" y="1600200"/>
            <a:ext cx="7589520" cy="452628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graphicFrame>
        <p:nvGraphicFramePr>
          <p:cNvPr id="16" name="Chart 0"/>
          <p:cNvGraphicFramePr/>
          <p:nvPr/>
        </p:nvGraphicFramePr>
        <p:xfrm>
          <a:off x="4251960" y="1737360"/>
          <a:ext cx="722376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4297680" y="507492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B2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повторных испытаний после отказа P80 наступит на 40 рабочих дней раньше. Сюда и стоит направить резерв стендового времени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E3EA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Стенды, режимы и переналадка уже в модели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механизма уже работают под независимой проверкой. Повтор испытаний добавим к пилоту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210312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9050">
            <a:solidFill>
              <a:srgbClr val="F08A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801368"/>
            <a:ext cx="566928" cy="566928"/>
          </a:xfrm>
          <a:prstGeom prst="ellipse">
            <a:avLst/>
          </a:prstGeom>
          <a:solidFill>
            <a:srgbClr val="1B2833"/>
          </a:solidFill>
          <a:ln w="12700">
            <a:solidFill>
              <a:srgbClr val="F08A3C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1943100"/>
            <a:ext cx="283464" cy="28346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560320" y="190195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56C990">
              <a:alpha val="20000"/>
            </a:srgbClr>
          </a:solidFill>
          <a:ln w="9525">
            <a:solidFill>
              <a:srgbClr val="56C99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560320" y="1901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6C9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системе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24871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Несколько режимов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286207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«Стенд А за 5 дней или стенд Б за 8»: решатель выбирает один режим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297680" y="1600200"/>
            <a:ext cx="3566160" cy="210312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9050">
            <a:solidFill>
              <a:srgbClr val="F08A3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98848" y="1801368"/>
            <a:ext cx="566928" cy="566928"/>
          </a:xfrm>
          <a:prstGeom prst="ellipse">
            <a:avLst/>
          </a:prstGeom>
          <a:solidFill>
            <a:srgbClr val="1B2833"/>
          </a:solidFill>
          <a:ln w="12700">
            <a:solidFill>
              <a:srgbClr val="F08A3C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0580" y="1943100"/>
            <a:ext cx="283464" cy="283464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09360" y="190195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56C990">
              <a:alpha val="20000"/>
            </a:srgbClr>
          </a:solidFill>
          <a:ln w="9525">
            <a:solidFill>
              <a:srgbClr val="56C99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309360" y="1901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6C9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системе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4498848" y="24871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Переналадка стенда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4498848" y="286207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Состояние стенда и интервал переналадки между конфигурациями заложены в сам план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8046720" y="1600200"/>
            <a:ext cx="3566160" cy="210312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9050">
            <a:solidFill>
              <a:srgbClr val="F08A3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247888" y="1801368"/>
            <a:ext cx="566928" cy="566928"/>
          </a:xfrm>
          <a:prstGeom prst="ellipse">
            <a:avLst/>
          </a:prstGeom>
          <a:solidFill>
            <a:srgbClr val="1B2833"/>
          </a:solidFill>
          <a:ln w="12700">
            <a:solidFill>
              <a:srgbClr val="F08A3C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9620" y="1943100"/>
            <a:ext cx="283464" cy="283464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10058400" y="190195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56C990">
              <a:alpha val="20000"/>
            </a:srgbClr>
          </a:solidFill>
          <a:ln w="9525">
            <a:solidFill>
              <a:srgbClr val="56C990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10058400" y="1901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6C9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системе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8247888" y="24871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База, факт, прогноз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8247888" y="286207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Начатую работу решатель не двигает, прогноз не раньше даты статуса, всё на диаграмме Ганта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548640" y="3886200"/>
            <a:ext cx="3566160" cy="210312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9050">
            <a:solidFill>
              <a:srgbClr val="F08A3C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49808" y="4087368"/>
            <a:ext cx="566928" cy="566928"/>
          </a:xfrm>
          <a:prstGeom prst="ellipse">
            <a:avLst/>
          </a:prstGeom>
          <a:solidFill>
            <a:srgbClr val="1B2833"/>
          </a:solidFill>
          <a:ln w="12700">
            <a:solidFill>
              <a:srgbClr val="F08A3C"/>
            </a:solidFill>
            <a:prstDash val="solid"/>
          </a:ln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" y="4229100"/>
            <a:ext cx="283464" cy="283464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2560320" y="418795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56C990">
              <a:alpha val="20000"/>
            </a:srgbClr>
          </a:solidFill>
          <a:ln w="9525">
            <a:solidFill>
              <a:srgbClr val="56C990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2560320" y="4187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6C9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системе</a:t>
            </a:r>
            <a:endParaRPr lang="en-US" sz="1050" dirty="0"/>
          </a:p>
        </p:txBody>
      </p:sp>
      <p:sp>
        <p:nvSpPr>
          <p:cNvPr id="30" name="Text 24"/>
          <p:cNvSpPr txBox="1"/>
          <p:nvPr/>
        </p:nvSpPr>
        <p:spPr>
          <a:xfrm>
            <a:off x="749808" y="47731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Версии программы</a:t>
            </a:r>
            <a:endParaRPr 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749808" y="514807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двух выгрузок: что изменилось в работах, связях, ресурсах и датах</a:t>
            </a:r>
            <a:endParaRPr lang="en-US" sz="1250" dirty="0"/>
          </a:p>
        </p:txBody>
      </p:sp>
      <p:sp>
        <p:nvSpPr>
          <p:cNvPr id="32" name="Shape 26"/>
          <p:cNvSpPr/>
          <p:nvPr/>
        </p:nvSpPr>
        <p:spPr>
          <a:xfrm>
            <a:off x="4297680" y="3886200"/>
            <a:ext cx="3566160" cy="210312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4498848" y="4087368"/>
            <a:ext cx="566928" cy="566928"/>
          </a:xfrm>
          <a:prstGeom prst="ellipse">
            <a:avLst/>
          </a:prstGeom>
          <a:solidFill>
            <a:srgbClr val="1B2833"/>
          </a:solidFill>
          <a:ln w="12700">
            <a:solidFill>
              <a:srgbClr val="F08A3C"/>
            </a:solidFill>
            <a:prstDash val="solid"/>
          </a:ln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40580" y="4229100"/>
            <a:ext cx="283464" cy="283464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6309360" y="418795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08A3C">
              <a:alpha val="20000"/>
            </a:srgbClr>
          </a:solidFill>
          <a:ln w="9525">
            <a:solidFill>
              <a:srgbClr val="F08A3C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6309360" y="4187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пилоту</a:t>
            </a:r>
            <a:endParaRPr lang="en-US" sz="1050" dirty="0"/>
          </a:p>
        </p:txBody>
      </p:sp>
      <p:sp>
        <p:nvSpPr>
          <p:cNvPr id="37" name="Text 30"/>
          <p:cNvSpPr txBox="1"/>
          <p:nvPr/>
        </p:nvSpPr>
        <p:spPr>
          <a:xfrm>
            <a:off x="4498848" y="47731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Испытание не прошло</a:t>
            </a:r>
            <a:endParaRPr lang="en-US" sz="1500" dirty="0"/>
          </a:p>
        </p:txBody>
      </p:sp>
      <p:sp>
        <p:nvSpPr>
          <p:cNvPr id="38" name="Text 31"/>
          <p:cNvSpPr txBox="1"/>
          <p:nvPr/>
        </p:nvSpPr>
        <p:spPr>
          <a:xfrm>
            <a:off x="4498848" y="514807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Отказ, доработка и повтор на том же экземпляре, пересчёт с минимумом перестановок</a:t>
            </a:r>
            <a:endParaRPr lang="en-US" sz="1250" dirty="0"/>
          </a:p>
        </p:txBody>
      </p:sp>
      <p:sp>
        <p:nvSpPr>
          <p:cNvPr id="39" name="Shape 32"/>
          <p:cNvSpPr/>
          <p:nvPr/>
        </p:nvSpPr>
        <p:spPr>
          <a:xfrm>
            <a:off x="8046720" y="3886200"/>
            <a:ext cx="3566160" cy="210312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8247888" y="4087368"/>
            <a:ext cx="566928" cy="566928"/>
          </a:xfrm>
          <a:prstGeom prst="ellipse">
            <a:avLst/>
          </a:prstGeom>
          <a:solidFill>
            <a:srgbClr val="1B2833"/>
          </a:solidFill>
          <a:ln w="12700">
            <a:solidFill>
              <a:srgbClr val="F08A3C"/>
            </a:solidFill>
            <a:prstDash val="solid"/>
          </a:ln>
        </p:spPr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9620" y="4229100"/>
            <a:ext cx="283464" cy="283464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58400" y="418795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9B44C">
              <a:alpha val="20000"/>
            </a:srgbClr>
          </a:solidFill>
          <a:ln w="9525">
            <a:solidFill>
              <a:srgbClr val="E9B44C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10058400" y="4187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9B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пилоте</a:t>
            </a:r>
            <a:endParaRPr lang="en-US" sz="1050" dirty="0"/>
          </a:p>
        </p:txBody>
      </p:sp>
      <p:sp>
        <p:nvSpPr>
          <p:cNvPr id="44" name="Text 36"/>
          <p:cNvSpPr txBox="1"/>
          <p:nvPr/>
        </p:nvSpPr>
        <p:spPr>
          <a:xfrm>
            <a:off x="8247888" y="47731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Обмен с 1С</a:t>
            </a:r>
            <a:endParaRPr lang="en-US" sz="1500" dirty="0"/>
          </a:p>
        </p:txBody>
      </p:sp>
      <p:sp>
        <p:nvSpPr>
          <p:cNvPr id="45" name="Text 37"/>
          <p:cNvSpPr txBox="1"/>
          <p:nvPr/>
        </p:nvSpPr>
        <p:spPr>
          <a:xfrm>
            <a:off x="8247888" y="514807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Выгрузка из 1С в MS Project XML или Excel по формату, согласованному с ОДК</a:t>
            </a:r>
            <a:endParaRPr lang="en-US" sz="125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E3EA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Решатель проверен на мировых эталонах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 же наборы задач, на которых сравнивают методы исследовательские группы и разработчики решателей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035040" cy="452628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graphicFrame>
        <p:nvGraphicFramePr>
          <p:cNvPr id="5" name="Chart 0"/>
          <p:cNvGraphicFramePr/>
          <p:nvPr/>
        </p:nvGraphicFramePr>
        <p:xfrm>
          <a:off x="731520" y="1737360"/>
          <a:ext cx="566928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130060" y="5413248"/>
            <a:ext cx="48592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j30: 476 из 480 совпали с известным оптимумом, среднее отклонение 0,013 %. Доказано оптимумов: 98,3 %, 84,4 % и 43,2 %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812280" y="1600200"/>
            <a:ext cx="4846320" cy="100584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95160" y="1801368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1709928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 RCPSP/max: все невыполнимые распознаны с доказательством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12280" y="2743200"/>
            <a:ext cx="4846320" cy="100584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95160" y="2944368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8458200" y="2852928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автотестов; повторный расчёт даёт тот же план до последней даты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812280" y="3886200"/>
            <a:ext cx="4846320" cy="100584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95160" y="4087368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2 688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8458200" y="3995928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 в 64 ОКР: крупная учебная программа рассчитана и принята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812280" y="5029200"/>
            <a:ext cx="4846320" cy="100584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22225">
            <a:solidFill>
              <a:srgbClr val="F08A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995160" y="5230368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000" dirty="0"/>
          </a:p>
        </p:txBody>
      </p:sp>
      <p:sp>
        <p:nvSpPr>
          <p:cNvPr id="18" name="Text 15"/>
          <p:cNvSpPr txBox="1"/>
          <p:nvPr/>
        </p:nvSpPr>
        <p:spPr>
          <a:xfrm>
            <a:off x="8458200" y="5138928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ложных принятий из 150 намеренно подменённых планов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E3EA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SynAPS добавляет доказательство и причины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Привычные системы остаются: SynAPS читает выгрузки MS Project и Primavera и возвращает проверенный план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109960" cy="3950208"/>
        </p:xfrm>
        <a:graphic>
          <a:graphicData uri="http://schemas.openxmlformats.org/drawingml/2006/table">
            <a:tbl>
              <a:tblPr/>
              <a:tblGrid>
                <a:gridCol w="3611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нужно программе ОКР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C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Ручная сводка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C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MS Project / P6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C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Spider Project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C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SynAPS-ProgramPlan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C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Свести планы разных форматов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E9B4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вручную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56C9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 своём формате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56C9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да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56C9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MS Project, P6, Excel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Выровнять общие ресурсы портфеля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F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8094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нет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F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E9B4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эвристика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F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56C9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да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F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56C9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CP-SAT, 7 вариантов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Доказать, что срок невыполним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8094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нет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8094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нет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8094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 заявлено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56C9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да, с требованиями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Назвать причину каждого переноса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F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8094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нет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F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8094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нет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F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8094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 заявлено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F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56C9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ресурс, работа, дата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Проверить план независимо от расчёта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8094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нет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8094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нет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8094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 заявлено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56C9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три проверки подряд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Оценить риск срыва P50 / P80 / P90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F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8094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нет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F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E9B4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надстройки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F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56C9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да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F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56C9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да и вклад каждого риска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Журнал решений, защищённый от правки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8094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нет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8094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нет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8094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 заявлено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56C9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защищён от правки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669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Оценка по открытой документации продуктов. На пилоте сравним с выравниванием MS Project на тех же данных ОДК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E3EA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Ядро доверия собрано по мировой практике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Мировой тренд: точный решатель, независимая проверка и объяснения, где каждое утверждение проверяемо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8321040" cy="548640"/>
          </a:xfrm>
          <a:prstGeom prst="snip2DiagRect">
            <a:avLst/>
          </a:prstGeom>
          <a:solidFill>
            <a:srgbClr val="0F1922">
              <a:alpha val="92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18488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Точная оптимизация с доказательством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4892040" y="161848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CP-SAT: доказанный оптимум и причины невыполнимости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052560" y="1709928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56C990">
              <a:alpha val="20000"/>
            </a:srgbClr>
          </a:solidFill>
          <a:ln w="9525">
            <a:solidFill>
              <a:srgbClr val="56C99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52560" y="17099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6C9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системе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212848"/>
            <a:ext cx="8321040" cy="548640"/>
          </a:xfrm>
          <a:prstGeom prst="snip2DiagRect">
            <a:avLst/>
          </a:prstGeom>
          <a:solidFill>
            <a:srgbClr val="0F1922">
              <a:alpha val="92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58568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Независимая проверка каждого плана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225856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отдельный модуль без кода решателя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052560" y="2350008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56C990">
              <a:alpha val="20000"/>
            </a:srgbClr>
          </a:solidFill>
          <a:ln w="9525">
            <a:solidFill>
              <a:srgbClr val="56C99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052560" y="23500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6C9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системе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852928"/>
            <a:ext cx="8321040" cy="548640"/>
          </a:xfrm>
          <a:prstGeom prst="snip2DiagRect">
            <a:avLst/>
          </a:prstGeom>
          <a:solidFill>
            <a:srgbClr val="0F1922">
              <a:alpha val="92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2898648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Связи всех типов, предельные задержки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89864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RCPSP/max с календарями, Kreter и др., 2017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052560" y="2990088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56C990">
              <a:alpha val="20000"/>
            </a:srgbClr>
          </a:solidFill>
          <a:ln w="9525">
            <a:solidFill>
              <a:srgbClr val="56C99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52560" y="29900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6C9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системе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493008"/>
            <a:ext cx="8321040" cy="548640"/>
          </a:xfrm>
          <a:prstGeom prst="snip2DiagRect">
            <a:avLst/>
          </a:prstGeom>
          <a:solidFill>
            <a:srgbClr val="0F1922">
              <a:alpha val="92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538728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Многопроектность и общие ресурсы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353872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портфель ОКР, Browning &amp; Yassine, 2010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052560" y="3630168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56C990">
              <a:alpha val="20000"/>
            </a:srgbClr>
          </a:solidFill>
          <a:ln w="9525">
            <a:solidFill>
              <a:srgbClr val="56C99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052560" y="36301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6C9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системе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321040" cy="548640"/>
          </a:xfrm>
          <a:prstGeom prst="snip2DiagRect">
            <a:avLst/>
          </a:prstGeom>
          <a:solidFill>
            <a:srgbClr val="0F1922">
              <a:alpha val="92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178808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Режимы и переналадка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4892040" y="417880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стенд А или Б, переналадка внутри плана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052560" y="4270248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56C990">
              <a:alpha val="20000"/>
            </a:srgbClr>
          </a:solidFill>
          <a:ln w="9525">
            <a:solidFill>
              <a:srgbClr val="56C99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052560" y="427024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6C9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системе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4773168"/>
            <a:ext cx="8321040" cy="548640"/>
          </a:xfrm>
          <a:prstGeom prst="snip2DiagRect">
            <a:avLst/>
          </a:prstGeom>
          <a:solidFill>
            <a:srgbClr val="0F1922">
              <a:alpha val="92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818888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Языковая модель только пересказывает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4892040" y="481888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текст строится из фактов проверенного плана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052560" y="4910328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56C990">
              <a:alpha val="20000"/>
            </a:srgbClr>
          </a:solidFill>
          <a:ln w="9525">
            <a:solidFill>
              <a:srgbClr val="56C99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052560" y="49103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6C9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системе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5413248"/>
            <a:ext cx="8321040" cy="548640"/>
          </a:xfrm>
          <a:prstGeom prst="snip2DiagRect">
            <a:avLst/>
          </a:prstGeom>
          <a:solidFill>
            <a:srgbClr val="0F1922">
              <a:alpha val="92000"/>
            </a:srgbClr>
          </a:solidFill>
          <a:ln w="12700">
            <a:solidFill>
              <a:srgbClr val="F08A3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" y="5458968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Перепланирование по событиям испытаний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4892040" y="545896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отказ, доработка и повтор на том же экземпляре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052560" y="5550408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08A3C">
              <a:alpha val="20000"/>
            </a:srgbClr>
          </a:solidFill>
          <a:ln w="9525">
            <a:solidFill>
              <a:srgbClr val="F08A3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052560" y="55504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пилоту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10607040" y="1572768"/>
            <a:ext cx="1051560" cy="438912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F08A3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0680192" y="1737360"/>
            <a:ext cx="914400" cy="402336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Нейросимволический контур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610819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8094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Schutt et al., J. Scheduling 2013; Kreter, Schutt, Stuckey, Constraints 2017; Browning &amp; Yassine, IJPE 2010; van den Houten et al., AAAI 2025</a:t>
            </a:r>
            <a:endParaRPr lang="en-US" sz="9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E3EA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Эффект считаем в рублях по вашим ставкам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рычага из карточки запроса. Формулу согласуем вместе, параметры даёт ОДК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361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8094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РЫЧАГ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37560" y="15361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8094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СЧИТАЕМ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001000" y="15361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8094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ВИДНО УЖЕ НА ПОКАЗЕ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847088"/>
            <a:ext cx="11109960" cy="73152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048256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84708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Трудозатраты на сводку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3337560" y="1847088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B2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(часы планировщиков на цикл до − после) × ставка × циклы за год</a:t>
            </a:r>
            <a:endParaRPr lang="en-US" sz="13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206654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0" y="1847088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ОКР и 7 вариантов одним запуском меньше чем за минуту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2697480"/>
            <a:ext cx="11109960" cy="73152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2898648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34440" y="26974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Сроки вех</a:t>
            </a:r>
            <a:endParaRPr lang="en-US" sz="1450" dirty="0"/>
          </a:p>
        </p:txBody>
      </p:sp>
      <p:sp>
        <p:nvSpPr>
          <p:cNvPr id="16" name="Text 11"/>
          <p:cNvSpPr txBox="1"/>
          <p:nvPr/>
        </p:nvSpPr>
        <p:spPr>
          <a:xfrm>
            <a:off x="3337560" y="269748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B2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снятые дни просрочки вех × цена дня сдвига вехи (оценка ОДК)</a:t>
            </a:r>
            <a:endParaRPr lang="en-US" sz="135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291693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412480" y="269748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второй стенд снимает 50 рабочих дней просрочки вех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548640" y="3547872"/>
            <a:ext cx="11109960" cy="73152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" y="3749040"/>
            <a:ext cx="329184" cy="32918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234440" y="3547872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Стенды и специалисты</a:t>
            </a:r>
            <a:endParaRPr lang="en-US" sz="1450" dirty="0"/>
          </a:p>
        </p:txBody>
      </p:sp>
      <p:sp>
        <p:nvSpPr>
          <p:cNvPr id="22" name="Text 15"/>
          <p:cNvSpPr txBox="1"/>
          <p:nvPr/>
        </p:nvSpPr>
        <p:spPr>
          <a:xfrm>
            <a:off x="3337560" y="3547872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B2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снятые часы простоя и переналадки × цена часа стенда (оценка ОДК)</a:t>
            </a:r>
            <a:endParaRPr lang="en-US" sz="135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767328"/>
            <a:ext cx="274320" cy="27432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8412480" y="3547872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конфликта найдены в исходных планах ещё до расчёта</a:t>
            </a:r>
            <a:endParaRPr lang="en-US" sz="1250" dirty="0"/>
          </a:p>
        </p:txBody>
      </p:sp>
      <p:sp>
        <p:nvSpPr>
          <p:cNvPr id="25" name="Shape 17"/>
          <p:cNvSpPr/>
          <p:nvPr/>
        </p:nvSpPr>
        <p:spPr>
          <a:xfrm>
            <a:off x="548640" y="4398264"/>
            <a:ext cx="11109960" cy="73152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" y="4599432"/>
            <a:ext cx="329184" cy="329184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1234440" y="439826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Прозрачность решений</a:t>
            </a:r>
            <a:endParaRPr lang="en-US" sz="1450" dirty="0"/>
          </a:p>
        </p:txBody>
      </p:sp>
      <p:sp>
        <p:nvSpPr>
          <p:cNvPr id="28" name="Text 19"/>
          <p:cNvSpPr txBox="1"/>
          <p:nvPr/>
        </p:nvSpPr>
        <p:spPr>
          <a:xfrm>
            <a:off x="3337560" y="4398264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B2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(часы на разбор отклонений до − после) × ставка × разборы за год</a:t>
            </a:r>
            <a:endParaRPr lang="en-US" sz="1350" dirty="0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617720"/>
            <a:ext cx="274320" cy="27432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8412480" y="4398264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причина у 100 % переносов, журнал решений защищён от правки</a:t>
            </a:r>
            <a:endParaRPr lang="en-US" sz="1250" dirty="0"/>
          </a:p>
        </p:txBody>
      </p:sp>
      <p:sp>
        <p:nvSpPr>
          <p:cNvPr id="31" name="Shape 21"/>
          <p:cNvSpPr/>
          <p:nvPr/>
        </p:nvSpPr>
        <p:spPr>
          <a:xfrm>
            <a:off x="548640" y="5349240"/>
            <a:ext cx="6675120" cy="914400"/>
          </a:xfrm>
          <a:prstGeom prst="snip2DiagRect">
            <a:avLst/>
          </a:prstGeom>
          <a:solidFill>
            <a:srgbClr val="2A1C10">
              <a:alpha val="90000"/>
            </a:srgbClr>
          </a:solidFill>
          <a:ln w="12700">
            <a:solidFill>
              <a:srgbClr val="F08A3C"/>
            </a:solidFill>
            <a:prstDash val="solid"/>
          </a:ln>
        </p:spPr>
      </p:sp>
      <p:pic>
        <p:nvPicPr>
          <p:cNvPr id="32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9808" y="5605272"/>
            <a:ext cx="384048" cy="384048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1280160" y="5349240"/>
            <a:ext cx="5806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Ретроспективный прогон. </a:t>
            </a: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Берём ваш план прошлого квартала и сравниваем, что система увидела бы заранее, с тем, что случилось на деле. Это эффект на ваших данных</a:t>
            </a:r>
            <a:endParaRPr lang="en-US" sz="1250" dirty="0"/>
          </a:p>
        </p:txBody>
      </p:sp>
      <p:sp>
        <p:nvSpPr>
          <p:cNvPr id="34" name="Shape 23"/>
          <p:cNvSpPr/>
          <p:nvPr/>
        </p:nvSpPr>
        <p:spPr>
          <a:xfrm>
            <a:off x="7406640" y="5349240"/>
            <a:ext cx="4251960" cy="91440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pic>
        <p:nvPicPr>
          <p:cNvPr id="35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5605272"/>
            <a:ext cx="365760" cy="384048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8092440" y="53492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Базовую линию снимаем до старта: часы на сводку, дни просрочки, простои стендов. Фиксируем её в договоре пилота</a:t>
            </a:r>
            <a:endParaRPr lang="en-US" sz="12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E3EA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Платный пилот в контуре ОДК до конца 2026 года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Короткий, с ясной областью и измеримыми критериями. Укладываемся в срок запроса, 31.12.2026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1737360"/>
            <a:ext cx="10607040" cy="0"/>
          </a:xfrm>
          <a:prstGeom prst="line">
            <a:avLst/>
          </a:prstGeom>
          <a:noFill/>
          <a:ln w="19050">
            <a:solidFill>
              <a:srgbClr val="F08A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27632"/>
            <a:ext cx="219456" cy="219456"/>
          </a:xfrm>
          <a:prstGeom prst="ellipse">
            <a:avLst/>
          </a:prstGeom>
          <a:solidFill>
            <a:srgbClr val="F08A3C"/>
          </a:solidFill>
          <a:ln w="12700">
            <a:solidFill>
              <a:srgbClr val="F08A3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011680"/>
            <a:ext cx="3566160" cy="178308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13055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Октябрь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45059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Подготовка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8346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Договор, методика и базовая линия. Обезличивание у вас. Доработки под ваши испытания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80560" y="1627632"/>
            <a:ext cx="219456" cy="219456"/>
          </a:xfrm>
          <a:prstGeom prst="ellipse">
            <a:avLst/>
          </a:prstGeom>
          <a:solidFill>
            <a:srgbClr val="F08A3C"/>
          </a:solidFill>
          <a:ln w="12700">
            <a:solidFill>
              <a:srgbClr val="F08A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0" y="2011680"/>
            <a:ext cx="3566160" cy="178308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22225">
            <a:solidFill>
              <a:srgbClr val="F08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98848" y="213055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Ноябрь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98848" y="245059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вашим планировщиком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498848" y="28346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Сводный план ваших ОКР, конфликты, варианты. Решение принимает планировщик ОДК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0" y="1627632"/>
            <a:ext cx="219456" cy="219456"/>
          </a:xfrm>
          <a:prstGeom prst="ellipse">
            <a:avLst/>
          </a:prstGeom>
          <a:solidFill>
            <a:srgbClr val="F08A3C"/>
          </a:solidFill>
          <a:ln w="12700">
            <a:solidFill>
              <a:srgbClr val="F08A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0" y="2011680"/>
            <a:ext cx="3566160" cy="178308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47888" y="213055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Декабрь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47888" y="245059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Испытания и протокол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247888" y="28346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Испытания по программе и методике, протокол, пакет оценки зрелости по ГОСТ Р 58048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5440680" cy="214884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114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ОБЛАСТЬ ПИЛОТА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4348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Одна программа или 2–4 ОКР с общими стендами и людьми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 обезличенных плана: MS Project, Primavera или Excel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Эксперт-планировщик ОДК и владелец процесса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Оплата по этапам, цена после фиксации области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17920" y="3977640"/>
            <a:ext cx="5440680" cy="214884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F08A3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46520" y="4114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ПОЛУЧАЕТ ОДК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446520" y="44348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Конфликты и качество ваших графиков в первую неделю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Проверенный сводный план и варианты со сроками и загрузкой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Прогон на прошлом квартале и сравнение с MS Project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Протокол и эффект по согласованной формуле</a:t>
            </a:r>
            <a:endParaRPr lang="en-US" sz="14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E3EA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Критерии приёмки фиксируем до старта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Цели взяты из методики пилота. Каждый критерий измеряем на ваших планах и вносим в протокол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109960" cy="4389120"/>
        </p:xfrm>
        <a:graphic>
          <a:graphicData uri="http://schemas.openxmlformats.org/drawingml/2006/table">
            <a:tbl>
              <a:tblPr/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9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Показатель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C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Цель пилота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C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уже показала система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C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Опубликованные планы прошли проверку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B2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100 %, ноль ложных принятий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6C9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ложных принятий из 150 подменённых планов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Первый план / улучшенный / пакет вариантов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F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B2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5 с / ≤ 30 с / 2–5 мин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F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6C9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ОКР и 7 вариантов меньше чем за минуту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F2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Пересчёт после локального события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B2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30 с, &lt; 10 % несвязанных сдвигов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6C9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правка одной работы: все сдвиги связаны с ней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Конфликты подтверждает эксперт ОДК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F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B2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90 %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F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6C9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 конфликта в учебных планах найдены до расчёта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F2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Просрочка вех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B2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 хуже ручного плана и MS Project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E9B4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покажем на данных ОДК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Причина у каждого переноса и её понятность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F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B2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100 %; оценка эксперта ≥ 4 из 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F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6C9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причина есть у каждого переноса в показе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F2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Трудозатраты на цикл сводки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B2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замер до и после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E9B4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покажем на данных ОДК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3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E3EA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ОДК не покидают закрытый контур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Поставка работает без интернета и готова к проверке службой безопасности заказчика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703320" cy="1298448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947672"/>
            <a:ext cx="566928" cy="566928"/>
          </a:xfrm>
          <a:prstGeom prst="ellipse">
            <a:avLst/>
          </a:prstGeom>
          <a:solidFill>
            <a:srgbClr val="1B2833"/>
          </a:solidFill>
          <a:ln w="12700">
            <a:solidFill>
              <a:srgbClr val="F08A3C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" y="2089404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75564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 без интернета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03120"/>
            <a:ext cx="2697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Установка из закреплённого набора пакетов, отчёт открывается в браузере без сервера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34840" y="1600200"/>
            <a:ext cx="3703320" cy="1298448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17720" y="1947672"/>
            <a:ext cx="566928" cy="566928"/>
          </a:xfrm>
          <a:prstGeom prst="ellipse">
            <a:avLst/>
          </a:prstGeom>
          <a:solidFill>
            <a:srgbClr val="1B2833"/>
          </a:solidFill>
          <a:ln w="12700">
            <a:solidFill>
              <a:srgbClr val="F08A3C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9452" y="2089404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49240" y="175564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Обезличивание у вас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5349240" y="2103120"/>
            <a:ext cx="2697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Скрипт заменяет имена кодами и сдвигает даты до передачи данных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063240"/>
            <a:ext cx="3703320" cy="1298448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1520" y="3410712"/>
            <a:ext cx="566928" cy="566928"/>
          </a:xfrm>
          <a:prstGeom prst="ellipse">
            <a:avLst/>
          </a:prstGeom>
          <a:solidFill>
            <a:srgbClr val="1B2833"/>
          </a:solidFill>
          <a:ln w="12700">
            <a:solidFill>
              <a:srgbClr val="F08A3C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" y="3552444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21868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Языковая модель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566160"/>
            <a:ext cx="2697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по желанию: по умолчанию выключена, в сеть не ходит, план не меняет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434840" y="3063240"/>
            <a:ext cx="3703320" cy="1298448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617720" y="3410712"/>
            <a:ext cx="566928" cy="566928"/>
          </a:xfrm>
          <a:prstGeom prst="ellipse">
            <a:avLst/>
          </a:prstGeom>
          <a:solidFill>
            <a:srgbClr val="1B2833"/>
          </a:solidFill>
          <a:ln w="12700">
            <a:solidFill>
              <a:srgbClr val="F08A3C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9452" y="3552444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349240" y="321868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Роли, TLS, журнал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5349240" y="3566160"/>
            <a:ext cx="2697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 по ролям и TLS, журнал решений, защищённый от правки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548640" y="4526280"/>
            <a:ext cx="3703320" cy="1298448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31520" y="4873752"/>
            <a:ext cx="566928" cy="566928"/>
          </a:xfrm>
          <a:prstGeom prst="ellipse">
            <a:avLst/>
          </a:prstGeom>
          <a:solidFill>
            <a:srgbClr val="1B2833"/>
          </a:solidFill>
          <a:ln w="12700">
            <a:solidFill>
              <a:srgbClr val="F08A3C"/>
            </a:solidFill>
            <a:prstDash val="solid"/>
          </a:ln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3252" y="5015484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463040" y="468172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Открытый код и состав</a:t>
            </a:r>
            <a:endParaRPr lang="en-US" sz="1350" dirty="0"/>
          </a:p>
        </p:txBody>
      </p:sp>
      <p:sp>
        <p:nvSpPr>
          <p:cNvPr id="28" name="Text 21"/>
          <p:cNvSpPr txBox="1"/>
          <p:nvPr/>
        </p:nvSpPr>
        <p:spPr>
          <a:xfrm>
            <a:off x="1463040" y="5029200"/>
            <a:ext cx="2697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Лицензия MIT, перечень компонентов CycloneDX, лицензии всех зависимостей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4434840" y="4526280"/>
            <a:ext cx="3703320" cy="1298448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4617720" y="4873752"/>
            <a:ext cx="566928" cy="566928"/>
          </a:xfrm>
          <a:prstGeom prst="ellipse">
            <a:avLst/>
          </a:prstGeom>
          <a:solidFill>
            <a:srgbClr val="1B2833"/>
          </a:solidFill>
          <a:ln w="12700">
            <a:solidFill>
              <a:srgbClr val="F08A3C"/>
            </a:solidFill>
            <a:prstDash val="solid"/>
          </a:ln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9452" y="5015484"/>
            <a:ext cx="283464" cy="28346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349240" y="468172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Выгрузка в MS Project</a:t>
            </a:r>
            <a:endParaRPr lang="en-US" sz="1350" dirty="0"/>
          </a:p>
        </p:txBody>
      </p:sp>
      <p:sp>
        <p:nvSpPr>
          <p:cNvPr id="33" name="Text 25"/>
          <p:cNvSpPr txBox="1"/>
          <p:nvPr/>
        </p:nvSpPr>
        <p:spPr>
          <a:xfrm>
            <a:off x="5349240" y="5029200"/>
            <a:ext cx="2697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Проверенный план возвращается в MS Project вместе с базовым планом</a:t>
            </a:r>
            <a:endParaRPr lang="en-US" sz="1200" dirty="0"/>
          </a:p>
        </p:txBody>
      </p:sp>
      <p:sp>
        <p:nvSpPr>
          <p:cNvPr id="34" name="Shape 26"/>
          <p:cNvSpPr/>
          <p:nvPr/>
        </p:nvSpPr>
        <p:spPr>
          <a:xfrm>
            <a:off x="8366760" y="1600200"/>
            <a:ext cx="3291840" cy="4224528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F08A3C"/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8595360" y="1783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К ТИРАЖИРОВАНИЮ</a:t>
            </a:r>
            <a:endParaRPr lang="en-US" sz="1100" dirty="0"/>
          </a:p>
        </p:txBody>
      </p:sp>
      <p:sp>
        <p:nvSpPr>
          <p:cNvPr id="36" name="Shape 28"/>
          <p:cNvSpPr/>
          <p:nvPr/>
        </p:nvSpPr>
        <p:spPr>
          <a:xfrm>
            <a:off x="8595360" y="2221992"/>
            <a:ext cx="384048" cy="384048"/>
          </a:xfrm>
          <a:prstGeom prst="ellipse">
            <a:avLst/>
          </a:prstGeom>
          <a:solidFill>
            <a:srgbClr val="F08A3C"/>
          </a:solidFill>
          <a:ln w="12700">
            <a:solidFill>
              <a:srgbClr val="F08A3C"/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859536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Shape 30"/>
          <p:cNvSpPr/>
          <p:nvPr/>
        </p:nvSpPr>
        <p:spPr>
          <a:xfrm>
            <a:off x="8787384" y="2624328"/>
            <a:ext cx="0" cy="457200"/>
          </a:xfrm>
          <a:prstGeom prst="line">
            <a:avLst/>
          </a:prstGeom>
          <a:noFill/>
          <a:ln w="12700">
            <a:solidFill>
              <a:srgbClr val="F08A3C"/>
            </a:solidFill>
            <a:prstDash val="dash"/>
          </a:ln>
        </p:spPr>
      </p:sp>
      <p:sp>
        <p:nvSpPr>
          <p:cNvPr id="39" name="Text 31"/>
          <p:cNvSpPr txBox="1"/>
          <p:nvPr/>
        </p:nvSpPr>
        <p:spPr>
          <a:xfrm>
            <a:off x="9098280" y="2194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</a:t>
            </a:r>
            <a:endParaRPr lang="en-US" sz="1400" dirty="0"/>
          </a:p>
        </p:txBody>
      </p:sp>
      <p:sp>
        <p:nvSpPr>
          <p:cNvPr id="40" name="Text 32"/>
          <p:cNvSpPr txBox="1"/>
          <p:nvPr/>
        </p:nvSpPr>
        <p:spPr>
          <a:xfrm>
            <a:off x="9098280" y="248716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 обезличенных плана ОКР в вашем контуре</a:t>
            </a:r>
            <a:endParaRPr lang="en-US" sz="1150" dirty="0"/>
          </a:p>
        </p:txBody>
      </p:sp>
      <p:sp>
        <p:nvSpPr>
          <p:cNvPr id="41" name="Shape 33"/>
          <p:cNvSpPr/>
          <p:nvPr/>
        </p:nvSpPr>
        <p:spPr>
          <a:xfrm>
            <a:off x="8595360" y="3118104"/>
            <a:ext cx="384048" cy="384048"/>
          </a:xfrm>
          <a:prstGeom prst="ellipse">
            <a:avLst/>
          </a:prstGeom>
          <a:solidFill>
            <a:srgbClr val="1B2833"/>
          </a:solidFill>
          <a:ln w="12700">
            <a:solidFill>
              <a:srgbClr val="F08A3C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8595360" y="3118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43" name="Shape 35"/>
          <p:cNvSpPr/>
          <p:nvPr/>
        </p:nvSpPr>
        <p:spPr>
          <a:xfrm>
            <a:off x="8787384" y="3520440"/>
            <a:ext cx="0" cy="457200"/>
          </a:xfrm>
          <a:prstGeom prst="line">
            <a:avLst/>
          </a:prstGeom>
          <a:noFill/>
          <a:ln w="12700">
            <a:solidFill>
              <a:srgbClr val="F08A3C"/>
            </a:solidFill>
            <a:prstDash val="dash"/>
          </a:ln>
        </p:spPr>
      </p:sp>
      <p:sp>
        <p:nvSpPr>
          <p:cNvPr id="44" name="Text 36"/>
          <p:cNvSpPr txBox="1"/>
          <p:nvPr/>
        </p:nvSpPr>
        <p:spPr>
          <a:xfrm>
            <a:off x="9098280" y="30906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Протокол испытаний</a:t>
            </a:r>
            <a:endParaRPr lang="en-US" sz="1400" dirty="0"/>
          </a:p>
        </p:txBody>
      </p:sp>
      <p:sp>
        <p:nvSpPr>
          <p:cNvPr id="45" name="Text 37"/>
          <p:cNvSpPr txBox="1"/>
          <p:nvPr/>
        </p:nvSpPr>
        <p:spPr>
          <a:xfrm>
            <a:off x="9098280" y="33832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измеренные эффекты по программе и методике</a:t>
            </a:r>
            <a:endParaRPr lang="en-US" sz="1150" dirty="0"/>
          </a:p>
        </p:txBody>
      </p:sp>
      <p:sp>
        <p:nvSpPr>
          <p:cNvPr id="46" name="Shape 38"/>
          <p:cNvSpPr/>
          <p:nvPr/>
        </p:nvSpPr>
        <p:spPr>
          <a:xfrm>
            <a:off x="8595360" y="4014216"/>
            <a:ext cx="384048" cy="384048"/>
          </a:xfrm>
          <a:prstGeom prst="ellipse">
            <a:avLst/>
          </a:prstGeom>
          <a:solidFill>
            <a:srgbClr val="1B2833"/>
          </a:solidFill>
          <a:ln w="12700">
            <a:solidFill>
              <a:srgbClr val="F08A3C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8595360" y="4014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Shape 40"/>
          <p:cNvSpPr/>
          <p:nvPr/>
        </p:nvSpPr>
        <p:spPr>
          <a:xfrm>
            <a:off x="8787384" y="4416552"/>
            <a:ext cx="0" cy="457200"/>
          </a:xfrm>
          <a:prstGeom prst="line">
            <a:avLst/>
          </a:prstGeom>
          <a:noFill/>
          <a:ln w="12700">
            <a:solidFill>
              <a:srgbClr val="F08A3C"/>
            </a:solidFill>
            <a:prstDash val="dash"/>
          </a:ln>
        </p:spPr>
      </p:sp>
      <p:sp>
        <p:nvSpPr>
          <p:cNvPr id="49" name="Text 41"/>
          <p:cNvSpPr txBox="1"/>
          <p:nvPr/>
        </p:nvSpPr>
        <p:spPr>
          <a:xfrm>
            <a:off x="9098280" y="398678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Оценка зрелости</a:t>
            </a:r>
            <a:endParaRPr lang="en-US" sz="1400" dirty="0"/>
          </a:p>
        </p:txBody>
      </p:sp>
      <p:sp>
        <p:nvSpPr>
          <p:cNvPr id="50" name="Text 42"/>
          <p:cNvSpPr txBox="1"/>
          <p:nvPr/>
        </p:nvSpPr>
        <p:spPr>
          <a:xfrm>
            <a:off x="9098280" y="427939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по ГОСТ Р 58048 для комиссии</a:t>
            </a:r>
            <a:endParaRPr lang="en-US" sz="1150" dirty="0"/>
          </a:p>
        </p:txBody>
      </p:sp>
      <p:sp>
        <p:nvSpPr>
          <p:cNvPr id="51" name="Shape 43"/>
          <p:cNvSpPr/>
          <p:nvPr/>
        </p:nvSpPr>
        <p:spPr>
          <a:xfrm>
            <a:off x="8595360" y="4910328"/>
            <a:ext cx="384048" cy="384048"/>
          </a:xfrm>
          <a:prstGeom prst="ellipse">
            <a:avLst/>
          </a:prstGeom>
          <a:solidFill>
            <a:srgbClr val="1B2833"/>
          </a:solidFill>
          <a:ln w="12700">
            <a:solidFill>
              <a:srgbClr val="F08A3C"/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8595360" y="4910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53" name="Text 45"/>
          <p:cNvSpPr txBox="1"/>
          <p:nvPr/>
        </p:nvSpPr>
        <p:spPr>
          <a:xfrm>
            <a:off x="9098280" y="488289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Тиражирование</a:t>
            </a:r>
            <a:endParaRPr lang="en-US" sz="1400" dirty="0"/>
          </a:p>
        </p:txBody>
      </p:sp>
      <p:sp>
        <p:nvSpPr>
          <p:cNvPr id="54" name="Text 46"/>
          <p:cNvSpPr txBox="1"/>
          <p:nvPr/>
        </p:nvSpPr>
        <p:spPr>
          <a:xfrm>
            <a:off x="9098280" y="5175504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другие программы ОДК</a:t>
            </a:r>
            <a:endParaRPr lang="en-US" sz="1150" dirty="0"/>
          </a:p>
        </p:txBody>
      </p:sp>
      <p:sp>
        <p:nvSpPr>
          <p:cNvPr id="5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E3EA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Авторы системы ведут ваш пилот лично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каждой цифрой на этих слайдах стоит тест, замер или файл в открытом репозитории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11880" cy="452628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pic>
        <p:nvPicPr>
          <p:cNvPr id="5" name="Image 0" descr="/home/claude/work/assets/photo_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448" y="1783080"/>
            <a:ext cx="2103120" cy="21031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40233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Коньков Дмитрий Викторович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43484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Основатель и архитектор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8920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Предметная модель программы ОКР, ядро SynAPS, решатель, независимая проверка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43400" y="1600200"/>
            <a:ext cx="3611880" cy="452628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pic>
        <p:nvPicPr>
          <p:cNvPr id="10" name="Image 1" descr="/home/claude/work/assets/photo_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3208" y="1783080"/>
            <a:ext cx="2103120" cy="21031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26280" y="40233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Конькова Елена Юрьевна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4526280" y="443484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Расчётный контур и проверка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617720" y="48920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Варианты плана, анализ риска, объяснения переносов, приёмочные испытания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38160" y="1600200"/>
            <a:ext cx="3520440" cy="4526280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F08A3C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366760" y="17830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МЫ РАБОТАЕМ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8366760" y="2194560"/>
            <a:ext cx="3108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Цифры в документах автоматически сверяются с расчётом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Каждое ограничение реализуем дважды: в решателе и в проверке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Повторный расчёт даёт тот же план до последней даты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Система предлагает, решение утверждает эксперт заказчика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E3EA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m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1480"/>
            <a:ext cx="2103120" cy="4251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шага к пилоту</a:t>
            </a:r>
            <a:endParaRPr lang="en-US" sz="38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920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Согласуем область пилота и запускаем подготовку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548640" y="2514600"/>
            <a:ext cx="512064" cy="512064"/>
          </a:xfrm>
          <a:prstGeom prst="ellipse">
            <a:avLst/>
          </a:prstGeom>
          <a:solidFill>
            <a:srgbClr val="F08A3C"/>
          </a:solidFill>
          <a:ln w="12700">
            <a:solidFill>
              <a:srgbClr val="F08A3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24871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 обезличенных плана ОКР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2834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 Project, Primavera или Excel. Скрипт обезличивания передадим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3355848"/>
            <a:ext cx="512064" cy="512064"/>
          </a:xfrm>
          <a:prstGeom prst="ellipse">
            <a:avLst/>
          </a:prstGeom>
          <a:solidFill>
            <a:srgbClr val="F08A3C"/>
          </a:solidFill>
          <a:ln w="12700">
            <a:solidFill>
              <a:srgbClr val="F08A3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3355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332841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Справочник стендов и специалистов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234440" y="367588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Допуски, календари, обслуживание, контрольные даты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4197096"/>
            <a:ext cx="512064" cy="512064"/>
          </a:xfrm>
          <a:prstGeom prst="ellipse">
            <a:avLst/>
          </a:prstGeom>
          <a:solidFill>
            <a:srgbClr val="F08A3C"/>
          </a:solidFill>
          <a:ln w="12700">
            <a:solidFill>
              <a:srgbClr val="F08A3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4197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416966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Владелец процесса и эксперт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234440" y="451713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базовой линии: кто сводит план и сколько труда уходит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5074920"/>
            <a:ext cx="5852160" cy="1325880"/>
          </a:xfrm>
          <a:prstGeom prst="snip2DiagRect">
            <a:avLst/>
          </a:prstGeom>
          <a:solidFill>
            <a:srgbClr val="0F1922">
              <a:alpha val="85000"/>
            </a:srgbClr>
          </a:solidFill>
          <a:ln w="12700">
            <a:solidFill>
              <a:srgbClr val="F08A3C"/>
            </a:solidFill>
            <a:prstDash val="solid"/>
          </a:ln>
        </p:spPr>
      </p:sp>
      <p:pic>
        <p:nvPicPr>
          <p:cNvPr id="18" name="Image 1" descr="/home/claude/work/assets/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5212080"/>
            <a:ext cx="1051560" cy="10515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920240" y="5212080"/>
            <a:ext cx="4389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Коньков Дмитрий Викторович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Основатель и архитектор SynAPS</a:t>
            </a:r>
            <a:endParaRPr lang="en-US" sz="1350" dirty="0"/>
          </a:p>
          <a:p>
            <a:pPr marL="0" indent="0">
              <a:buNone/>
            </a:pPr>
            <a:r>
              <a:rPr lang="en-US" sz="1350" u="sng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github.com/KonkovDV/SynAPS-ProgramPlan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Приложение. Ответы на частые вопросы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ответ опирается на тест, замер или файл в репозитории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1353312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вариант не «оптимальный»?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12264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 принят и прошёл три проверки. Доказать оптимум за 8 секунд решатель не успел, и система так и пишет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600200"/>
            <a:ext cx="5440680" cy="1353312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173736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Можно загрузить наш файл MS Project?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2112264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Импорт MS Project, Primavera и Excel покрыт тестами. Ваш файл и выгрузку из 1С прочитаем на пилоте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5440680" cy="1353312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24612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Сколько работ выдержит система?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621024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2 688 работ — точным решателем, 5 010 — быстрым. Крупные программы берём декомпозицией по ОКР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2200" y="3108960"/>
            <a:ext cx="5440680" cy="1353312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324612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Какой эффект в деньгах?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3621024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Считаем по формуле с вашими ставками. Базовую линию снимаем до старта и фиксируем в договоре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617720"/>
            <a:ext cx="5440680" cy="1353312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75488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Учитываете переналадку стендов?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129784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Да, уже в плане и в независимой проверке. Режимы «стенд А или Б» тоже, решатель выбирает сам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172200" y="4617720"/>
            <a:ext cx="5440680" cy="1353312"/>
          </a:xfrm>
          <a:prstGeom prst="snip2DiagRect">
            <a:avLst/>
          </a:prstGeom>
          <a:solidFill>
            <a:srgbClr val="0F1922">
              <a:alpha val="88000"/>
            </a:srgbClr>
          </a:solidFill>
          <a:ln w="12700">
            <a:solidFill>
              <a:srgbClr val="3B55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475488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мы должны верить плану?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5129784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BFCC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всех трёх проверок план не выходит из системы. Ноль ложных принятий из 150 подменённых планов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E3EA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3517</Words>
  <Application>Microsoft Office PowerPoint</Application>
  <PresentationFormat>Широкоэкранный</PresentationFormat>
  <Paragraphs>454</Paragraphs>
  <Slides>19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1" baseType="lpstr"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SynAPS-ProgramPlan — пилот для АО «ОДК»</dc:title>
  <dc:subject>PptxGenJS Presentation</dc:subject>
  <dc:creator>Коньков Д. В.</dc:creator>
  <cp:lastModifiedBy>Ivan Ivanov</cp:lastModifiedBy>
  <cp:revision>2</cp:revision>
  <dcterms:created xsi:type="dcterms:W3CDTF">2026-10-07T09:09:38Z</dcterms:created>
  <dcterms:modified xsi:type="dcterms:W3CDTF">2026-10-07T09:19:40Z</dcterms:modified>
</cp:coreProperties>
</file>